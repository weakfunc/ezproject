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87" r:id="rId9"/>
    <p:sldId id="269" r:id="rId10"/>
    <p:sldId id="277" r:id="rId11"/>
    <p:sldId id="261" r:id="rId12"/>
    <p:sldId id="265" r:id="rId13"/>
    <p:sldId id="284" r:id="rId14"/>
    <p:sldId id="262" r:id="rId15"/>
    <p:sldId id="276" r:id="rId16"/>
  </p:sldIdLst>
  <p:sldSz cx="12192000" cy="6858000"/>
  <p:notesSz cx="6858000" cy="12192000"/>
  <p:embeddedFontLst>
    <p:embeddedFont>
      <p:font typeface="黑体" panose="02010609060101010101" charset="-122"/>
      <p:regular r:id="rId21"/>
    </p:embeddedFont>
    <p:embeddedFont>
      <p:font typeface="MiSans" pitchFamily="34" charset="-122"/>
      <p:regular r:id="rId22"/>
    </p:embeddedFont>
    <p:embeddedFont>
      <p:font typeface="MiSans" pitchFamily="34" charset="-120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  <p:embeddedFont>
      <p:font typeface="等线" panose="02010600030101010101" charset="-122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" initials="authorId_1396592548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png"/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-72390" y="-77470"/>
            <a:ext cx="13742035" cy="71431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050925" y="5817235"/>
            <a:ext cx="4345305" cy="66611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汇报人：</a:t>
            </a:r>
            <a:r>
              <a:rPr lang="zh-CN" altLang="en-US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张梦瑶</a:t>
            </a:r>
            <a:endParaRPr lang="zh-CN" altLang="en-US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学号：</a:t>
            </a:r>
            <a:r>
              <a:rPr lang="en-US" altLang="zh-CN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223071301135</a:t>
            </a:r>
            <a:endParaRPr lang="zh-CN" altLang="en-US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90000"/>
              </a:lnSpc>
            </a:pPr>
            <a:endParaRPr lang="zh-CN" altLang="en-US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汇报日期：2025/12/26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5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66215" y="2287905"/>
            <a:ext cx="9116695" cy="1510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4800" b="1" dirty="0">
                <a:latin typeface="黑体" panose="02010609060101010101" charset="-122"/>
                <a:ea typeface="黑体" panose="02010609060101010101" charset="-122"/>
              </a:rPr>
              <a:t>羽毛球智能捡球机器人系统设计</a:t>
            </a:r>
            <a:endParaRPr lang="zh-CN" altLang="en-US" sz="4800" b="1" dirty="0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00000"/>
              </a:lnSpc>
            </a:pPr>
            <a:endParaRPr lang="en-US" altLang="zh-CN" sz="4800" b="1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4-11:33:05-d2sggse1bb2p4onbon00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9631680" y="1380490"/>
            <a:ext cx="1750695" cy="14230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6-d2sggsm1bb2p4onbon20.png"/>
          <p:cNvPicPr>
            <a:picLocks noChangeAspect="1"/>
          </p:cNvPicPr>
          <p:nvPr/>
        </p:nvPicPr>
        <p:blipFill>
          <a:blip r:embed="rId2">
            <a:alphaModFix amt="60000"/>
          </a:blip>
          <a:srcRect b="39711"/>
          <a:stretch>
            <a:fillRect/>
          </a:stretch>
        </p:blipFill>
        <p:spPr>
          <a:xfrm>
            <a:off x="844550" y="4104005"/>
            <a:ext cx="3957955" cy="275399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844550" y="1749425"/>
            <a:ext cx="1408430" cy="97663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Text 1"/>
          <p:cNvSpPr/>
          <p:nvPr/>
        </p:nvSpPr>
        <p:spPr>
          <a:xfrm>
            <a:off x="844550" y="1749425"/>
            <a:ext cx="1408430" cy="976630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844550" y="2692400"/>
            <a:ext cx="2663190" cy="4210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9" name="Image 3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4-11:33:04-d2sggs61bb2p4onbomug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1" name="Shape 4"/>
          <p:cNvSpPr/>
          <p:nvPr>
            <p:custDataLst>
              <p:tags r:id="rId4"/>
            </p:custDataLst>
          </p:nvPr>
        </p:nvSpPr>
        <p:spPr>
          <a:xfrm flipH="1">
            <a:off x="4570730" y="148209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12" name="Shape 5"/>
          <p:cNvSpPr/>
          <p:nvPr>
            <p:custDataLst>
              <p:tags r:id="rId5"/>
            </p:custDataLst>
          </p:nvPr>
        </p:nvSpPr>
        <p:spPr>
          <a:xfrm flipH="1">
            <a:off x="4570730" y="331279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17" name="Shape 10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Text 23"/>
          <p:cNvSpPr/>
          <p:nvPr>
            <p:custDataLst>
              <p:tags r:id="rId6"/>
            </p:custDataLst>
          </p:nvPr>
        </p:nvSpPr>
        <p:spPr>
          <a:xfrm>
            <a:off x="4439285" y="1300480"/>
            <a:ext cx="1619250" cy="768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00" dirty="0"/>
          </a:p>
        </p:txBody>
      </p:sp>
      <p:sp>
        <p:nvSpPr>
          <p:cNvPr id="31" name="Text 24"/>
          <p:cNvSpPr/>
          <p:nvPr>
            <p:custDataLst>
              <p:tags r:id="rId7"/>
            </p:custDataLst>
          </p:nvPr>
        </p:nvSpPr>
        <p:spPr>
          <a:xfrm>
            <a:off x="5622925" y="1393190"/>
            <a:ext cx="626808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kumimoji="1" lang="zh-CN" altLang="en-US" sz="32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选题背景与意义</a:t>
            </a:r>
            <a:endParaRPr kumimoji="1" lang="zh-CN" altLang="en-US" sz="3200" b="1" dirty="0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32" name="Text 25"/>
          <p:cNvSpPr/>
          <p:nvPr>
            <p:custDataLst>
              <p:tags r:id="rId8"/>
            </p:custDataLst>
          </p:nvPr>
        </p:nvSpPr>
        <p:spPr>
          <a:xfrm>
            <a:off x="4380230" y="3129915"/>
            <a:ext cx="1619250" cy="7683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00" dirty="0"/>
          </a:p>
        </p:txBody>
      </p:sp>
      <p:sp>
        <p:nvSpPr>
          <p:cNvPr id="33" name="Text 26"/>
          <p:cNvSpPr/>
          <p:nvPr>
            <p:custDataLst>
              <p:tags r:id="rId9"/>
            </p:custDataLst>
          </p:nvPr>
        </p:nvSpPr>
        <p:spPr>
          <a:xfrm>
            <a:off x="5622925" y="3213100"/>
            <a:ext cx="626808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kumimoji="1" lang="zh-CN" altLang="en-US" sz="32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主要研究内容</a:t>
            </a:r>
            <a:endParaRPr kumimoji="1" lang="zh-CN" altLang="en-US" sz="32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37" name="Text 30"/>
          <p:cNvSpPr/>
          <p:nvPr>
            <p:custDataLst>
              <p:tags r:id="rId10"/>
            </p:custDataLst>
          </p:nvPr>
        </p:nvSpPr>
        <p:spPr>
          <a:xfrm>
            <a:off x="5642610" y="3738245"/>
            <a:ext cx="626808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endParaRPr lang="zh-CN" altLang="en-US" sz="2000" b="1" dirty="0">
              <a:solidFill>
                <a:srgbClr val="595959"/>
              </a:solidFill>
              <a:latin typeface="黑体" panose="02010609060101010101" charset="-122"/>
              <a:ea typeface="黑体" panose="02010609060101010101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kumimoji="1" lang="zh-CN" altLang="en-US" sz="3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选题背景与意义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97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0-d2sggtm1bb2p4onbon9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95" y="4176395"/>
            <a:ext cx="475615" cy="9328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9010" y="259715"/>
            <a:ext cx="3251835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选题背景与意义</a:t>
            </a:r>
            <a:endParaRPr lang="zh-CN" altLang="en-US" sz="2800" b="1" dirty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8082280" y="4972050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  <p:txBody>
          <a:bodyPr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2" descr="https://kimi-img.moonshot.cn/pub/slides/slides_tmpl/image/25-09-04-11:33:12-d2sggu61bb2p4onbon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845" y="2051685"/>
            <a:ext cx="2904490" cy="3145790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4-11:33:09-d2sggte1bb2p4onbon6g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93395" y="2223770"/>
            <a:ext cx="461645" cy="462915"/>
          </a:xfrm>
          <a:prstGeom prst="rect">
            <a:avLst/>
          </a:prstGeom>
        </p:spPr>
      </p:pic>
      <p:pic>
        <p:nvPicPr>
          <p:cNvPr id="10" name="Image 5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文本框 27"/>
          <p:cNvSpPr txBox="1"/>
          <p:nvPr/>
        </p:nvSpPr>
        <p:spPr>
          <a:xfrm>
            <a:off x="1183005" y="1128395"/>
            <a:ext cx="6669405" cy="499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随着科技的发展，人工智能与机器人技术已广泛应用于智能交通、安防监控等领域，其中运动目标检测与追踪技术成为提升社会效率的核心手段。视频图像作为动态场景的记录载体，其运动目标分析能力在行为预测、轨迹规划中展现出独特价值。例如，智能交通系统通过车辆追踪实现违章取证，自动驾驶技术依赖行人检测规避风险。然而，在体育场馆场景中，传统技术面临新挑战：球类回收长期依赖人工操作，效率低且成本高，而现有机器人技术难以满足复杂球场环境的需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例如羽毛球等小目标识别精度不足、动态避障响应速度慢，以及机械机构对不同球体的兼容性差。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97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9010" y="259715"/>
            <a:ext cx="3251835" cy="6457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cs typeface="MiSans" pitchFamily="34" charset="-120"/>
              </a:rPr>
              <a:t>选题背景与意义</a:t>
            </a:r>
            <a:endParaRPr lang="zh-CN" altLang="en-US" sz="2800" b="1" dirty="0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cs typeface="MiSans" pitchFamily="34" charset="-12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56515" y="4820920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  <p:txBody>
          <a:bodyPr/>
          <a:p>
            <a:endParaRPr lang="zh-CN" altLang="en-US"/>
          </a:p>
        </p:txBody>
      </p:sp>
      <p:sp>
        <p:nvSpPr>
          <p:cNvPr id="6" name="Text 2"/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2" descr="https://kimi-img.moonshot.cn/pub/slides/slides_tmpl/image/25-09-04-11:33:12-d2sggu61bb2p4onbon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64335"/>
            <a:ext cx="2904490" cy="3145790"/>
          </a:xfrm>
          <a:prstGeom prst="rect">
            <a:avLst/>
          </a:prstGeom>
        </p:spPr>
      </p:pic>
      <p:pic>
        <p:nvPicPr>
          <p:cNvPr id="10" name="Image 5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7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文本框 27"/>
          <p:cNvSpPr txBox="1"/>
          <p:nvPr/>
        </p:nvSpPr>
        <p:spPr>
          <a:xfrm>
            <a:off x="3923665" y="1053465"/>
            <a:ext cx="6669405" cy="499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本研究设计的智能拾球机器人系统，通过集成优化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YOLO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算法、麦克纳姆轮全向底盘及滚轮式拾取机构，攻克了多球类识别、高效路径规划与自适应拾取三大难题。系统采用轻量化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YOLO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模型，对乒乓球、网球、羽毛球实现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96.4%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的识别准确率，远超传统颜色分割方法；结合动态窗口算法与双闭环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控制，机器人可在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秒内完成单球拾取，定位精度达</a:t>
            </a:r>
            <a:r>
              <a:rPr lang="en-US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±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2cm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，较人工效率提升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300%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。此外，模块化设计使其适配不同球场环境，连续工作时长超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小时，为场馆运营节省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80%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人力成本。该成果不仅推动体育服务智能化转型，更为复杂场景下的机器人目标交互技术提供了创新解决方案。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2-d2sggu61bb2p4onbondg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8" name="Image 3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文本框 4"/>
          <p:cNvSpPr txBox="1"/>
          <p:nvPr/>
        </p:nvSpPr>
        <p:spPr>
          <a:xfrm>
            <a:off x="1213485" y="335915"/>
            <a:ext cx="5020310" cy="755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国内外研究现状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38860" y="1741170"/>
            <a:ext cx="4850130" cy="3684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近年来，国内外学者及团队均开展了智能捡球机器人的相关研究，推动了该领域发展：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国内研究：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聚焦乒乓球、网球捡球机器人，不同团队从硬件选型（树莓派、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STM32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Jetson Nano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等芯片）、抓取结构（机械臂、旋转毛刷等）、核心算法（蚁群算法、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YOLOv5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目标检测、细菌觅食算法等）多个维度进行设计，实现了精准识别、高效避障与抓取，兼具创新性与实用性，部分设计具备市场推广价值。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1" name="Image 2" descr="https://kimi-img.moonshot.cn/pub/slides/slides_tmpl/image/25-09-04-11:33:12-d2sggu61bb2p4onbon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320" y="1584960"/>
            <a:ext cx="2904490" cy="3145790"/>
          </a:xfrm>
          <a:prstGeom prst="rect">
            <a:avLst/>
          </a:prstGeom>
        </p:spPr>
      </p:pic>
      <p:sp>
        <p:nvSpPr>
          <p:cNvPr id="22" name="Shape 1"/>
          <p:cNvSpPr/>
          <p:nvPr/>
        </p:nvSpPr>
        <p:spPr>
          <a:xfrm>
            <a:off x="7482205" y="4730750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2-d2sggu61bb2p4onbondg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8" name="Image 3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文本框 4"/>
          <p:cNvSpPr txBox="1"/>
          <p:nvPr/>
        </p:nvSpPr>
        <p:spPr>
          <a:xfrm>
            <a:off x="5630545" y="1503045"/>
            <a:ext cx="5448300" cy="4546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国外研究：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成果涵盖高尔夫球挑选机器人和仓储复合机器人，前者依托自主导航与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Twin-RRT *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路径规划实现高效拾球，后者凭借多自由度机械臂与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ROS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系统完成货物自主拾取运输，均具有较高创新性。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调研发现，当前智能捡球机器人研究面临两大核心问题：一是采用深度学习等算法需搭配高端芯片及设备，成本高昂限制普及；二是传统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PID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算法虽成本低、对计算要求不高，但反应速度慢，难以适配复杂场景。因此，在控制成本的基础上提升机器人反应速度，成为该领域亟待解决的关键问题。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0" name="Image 2" descr="https://kimi-img.moonshot.cn/pub/slides/slides_tmpl/image/25-09-04-11:33:12-d2sggu61bb2p4onbon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430" y="1559560"/>
            <a:ext cx="2904490" cy="3145790"/>
          </a:xfrm>
          <a:prstGeom prst="rect">
            <a:avLst/>
          </a:prstGeom>
        </p:spPr>
      </p:pic>
      <p:sp>
        <p:nvSpPr>
          <p:cNvPr id="21" name="Shape 1"/>
          <p:cNvSpPr/>
          <p:nvPr/>
        </p:nvSpPr>
        <p:spPr>
          <a:xfrm>
            <a:off x="575945" y="4761230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85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sz="32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主要研究内容</a:t>
            </a:r>
            <a:endParaRPr lang="zh-CN" sz="32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4-d2sggum1bb2p4onbonf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85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11-d2sggtu1bb2p4onbonc0.png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342265" y="1323975"/>
            <a:ext cx="11273790" cy="5029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50545" y="1599565"/>
            <a:ext cx="5194935" cy="2543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STM32F103C8T6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与设计了一款智能捡球机器人，通过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K210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识别球的种类并返回目标球与屏幕中心点的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轴和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轴之间的像素差给主控单片机，再由单片机和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算法以及麦克纳姆轮计算公式计算出小车的移动方向和速度。该系统由单片机主控、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K210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摄像头、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TB6612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电机驱动模块、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MC520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编码器电机、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DCDC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降压模块、以及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LCD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显示屏组成。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0" y="3496310"/>
            <a:ext cx="5358130" cy="2390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    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在研究中，首先对系统整体设计方案进行阐述与说明，完成硬件电路和软件算法的设计。其次要对所有涉及的模块进行功能性说明，并分析说明每一个模块硬件与软件的设计思路与具体实施方案。将重点探索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STM32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单片机的编程控制、视觉识别算法的编写以及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MC520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码器电机控制的精确性。通过测试结果验证机器人的运动性能以及视觉识别的正确率，提高机器人的交互性和实用性。最后说明在整体设计与调试中所遇到的种种问题与解决方案，并对整体系统进行总结与展望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2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3"/>
          <a:srcRect t="1665" r="42069"/>
          <a:stretch>
            <a:fillRect/>
          </a:stretch>
        </p:blipFill>
        <p:spPr>
          <a:xfrm>
            <a:off x="811530" y="291465"/>
            <a:ext cx="3179445" cy="6000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96925" y="288925"/>
            <a:ext cx="3169920" cy="60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主要研究内容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8-d2sggt61bb2p4onbon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6117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82895" y="946785"/>
            <a:ext cx="5999480" cy="3771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捡球机器人的总体设计框图如图所示。单片机与摄像头间使用串口通信，单片机发出控制指令，摄像头通过自定义的通信格式传回底盘运动的期望值如速度和方向。单片机需要解析这些数据并转换成控制信号，与底盘电机和拾取机构电机通过直流有刷电机驱动模块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TB6612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）连接，单片机通过给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TB6612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PWM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波从而控制电机的转速。与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LCD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之间使用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SPI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通信协议，根据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LCD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厂家提供的手册设计所需的交互界面。超声波避障模块输出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PWM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波反馈与障碍物距离，单片机通过定时器的输入捕获模式获取距离数据。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13201206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4718050"/>
            <a:ext cx="6586855" cy="1765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https://kimi-img.moonshot.cn/pub/slides/slides_tmpl/image/25-09-04-11:33:14-d2sggum1bb2p4onbonf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4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3"/>
          <a:srcRect t="1665" r="42069"/>
          <a:stretch>
            <a:fillRect/>
          </a:stretch>
        </p:blipFill>
        <p:spPr>
          <a:xfrm>
            <a:off x="811530" y="291465"/>
            <a:ext cx="3179445" cy="6000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96925" y="288925"/>
            <a:ext cx="3169920" cy="60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具体研究内容</a:t>
            </a:r>
            <a:endParaRPr lang="zh-CN" altLang="en-US" sz="3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" name="Image 1" descr="https://kimi-img.moonshot.cn/pub/slides/slides_tmpl/image/25-09-04-11:33:11-d2sggtu1bb2p4onbonc0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342265" y="1092835"/>
            <a:ext cx="11534140" cy="54387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13080" y="1353820"/>
            <a:ext cx="5396230" cy="274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系统总体架构设计：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根据羽毛球场景需求，确定机器人系统的总体方案，包含主控模块、视觉识别模块、驱动与控制模块、机械执行机构及电源系统的结构与功能设计。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目标识别：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利用摄像头采集现场图像，通过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YOLO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图像识别算法实现羽毛球目标检测与位置识别。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机械结构与执行机构设计：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设计适用于羽毛球拾取的拾取机械结构，确保机器人在移动过程中能够高效、稳定地完成捡球任务。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313170" y="3726180"/>
            <a:ext cx="5367020" cy="2567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主控系统与电路设计：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STM32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单片机为核心控制单元，完成电机驱动、电源管理、传感器接口及通信模块的电路设计，确保各模块间的高效协同与稳定运行。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软件系统与控制程序开发：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编写机器人控制程序与图像处理算法，设计捡球逻辑、路径控制、数据处理及任务调度流程，实现从视觉识别到运动执行的自动化闭环控制。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系统集成与样机测试：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完成整机组装与调试，目标识别精度、捡球效率及系统稳定性进行实验测试，验证系统的可行性与性能指标，最终实现一款具备自主识别与自动捡球功能的智能机器人原型。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9-d2sggvu1bb2p4onbonq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72669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419100" y="2726690"/>
            <a:ext cx="773557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665460" y="330200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张梦瑶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21169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汇报日期：2025/12/26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099607" y="5982681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626745" y="346329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3"/>
          <p:cNvSpPr/>
          <p:nvPr/>
        </p:nvSpPr>
        <p:spPr>
          <a:xfrm>
            <a:off x="626745" y="3463290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26745" y="2541905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626745" y="2541905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577FD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63.55,&quot;left&quot;:336.35,&quot;top&quot;:91.4,&quot;width&quot;:599.95}"/>
</p:tagLst>
</file>

<file path=ppt/tags/tag2.xml><?xml version="1.0" encoding="utf-8"?>
<p:tagLst xmlns:p="http://schemas.openxmlformats.org/presentationml/2006/main">
  <p:tag name="KSO_WM_DIAGRAM_VIRTUALLY_FRAME" val="{&quot;height&quot;:363.55,&quot;left&quot;:336.35,&quot;top&quot;:91.4,&quot;width&quot;:599.95}"/>
</p:tagLst>
</file>

<file path=ppt/tags/tag3.xml><?xml version="1.0" encoding="utf-8"?>
<p:tagLst xmlns:p="http://schemas.openxmlformats.org/presentationml/2006/main">
  <p:tag name="KSO_WM_DIAGRAM_VIRTUALLY_FRAME" val="{&quot;height&quot;:363.55,&quot;left&quot;:336.35,&quot;top&quot;:91.4,&quot;width&quot;:599.95}"/>
</p:tagLst>
</file>

<file path=ppt/tags/tag4.xml><?xml version="1.0" encoding="utf-8"?>
<p:tagLst xmlns:p="http://schemas.openxmlformats.org/presentationml/2006/main">
  <p:tag name="KSO_WM_DIAGRAM_VIRTUALLY_FRAME" val="{&quot;height&quot;:363.55,&quot;left&quot;:336.35,&quot;top&quot;:91.4,&quot;width&quot;:599.95}"/>
</p:tagLst>
</file>

<file path=ppt/tags/tag5.xml><?xml version="1.0" encoding="utf-8"?>
<p:tagLst xmlns:p="http://schemas.openxmlformats.org/presentationml/2006/main">
  <p:tag name="KSO_WM_DIAGRAM_VIRTUALLY_FRAME" val="{&quot;height&quot;:363.55,&quot;left&quot;:336.35,&quot;top&quot;:91.4,&quot;width&quot;:599.95}"/>
</p:tagLst>
</file>

<file path=ppt/tags/tag6.xml><?xml version="1.0" encoding="utf-8"?>
<p:tagLst xmlns:p="http://schemas.openxmlformats.org/presentationml/2006/main">
  <p:tag name="KSO_WM_DIAGRAM_VIRTUALLY_FRAME" val="{&quot;height&quot;:363.55,&quot;left&quot;:336.35,&quot;top&quot;:91.4,&quot;width&quot;:599.95}"/>
</p:tagLst>
</file>

<file path=ppt/tags/tag7.xml><?xml version="1.0" encoding="utf-8"?>
<p:tagLst xmlns:p="http://schemas.openxmlformats.org/presentationml/2006/main">
  <p:tag name="KSO_WM_DIAGRAM_VIRTUALLY_FRAME" val="{&quot;height&quot;:363.55,&quot;left&quot;:351.1,&quot;top&quot;:92.2,&quot;width&quot;:586.7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2227</Words>
  <Application>WPS 演示</Application>
  <PresentationFormat>宽屏</PresentationFormat>
  <Paragraphs>72</Paragraphs>
  <Slides>12</Slides>
  <Notes>15</Notes>
  <HiddenSlides>0</HiddenSlides>
  <MMClips>5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黑体</vt:lpstr>
      <vt:lpstr>MiSans</vt:lpstr>
      <vt:lpstr>MiSans</vt:lpstr>
      <vt:lpstr>Noto Sans SC</vt:lpstr>
      <vt:lpstr>SWAstro</vt:lpstr>
      <vt:lpstr>Noto Sans SC</vt:lpstr>
      <vt:lpstr>Noto Sans SC</vt:lpstr>
      <vt:lpstr>Calibri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RobotStudio三站联动实战录</dc:title>
  <dc:creator>Kimi</dc:creator>
  <dc:subject>RobotStudio三站联动实战录</dc:subject>
  <cp:lastModifiedBy>K</cp:lastModifiedBy>
  <cp:revision>22</cp:revision>
  <dcterms:created xsi:type="dcterms:W3CDTF">2025-11-23T01:34:00Z</dcterms:created>
  <dcterms:modified xsi:type="dcterms:W3CDTF">2025-12-25T02:26:25Z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{"Label":"RobotStudio三站联动实战录","ContentProducer":"001191110108MACG2KBH8F10000","ProduceID":"d4h68047fff14rq5rpfg","ReservedCode1":"","ContentPropagator":"001191110108MACG2KBH8F20000","PropagateID":"d4h68047fff14rq5rpfg","ReservedCode2":""}</vt:lpwstr>
  </property>
  <property fmtid="{D5CDD505-2E9C-101B-9397-08002B2CF9AE}" pid="3" name="ICV">
    <vt:lpwstr>0212FB70FFD74961BAACE4FBC4FE481C_12</vt:lpwstr>
  </property>
  <property fmtid="{D5CDD505-2E9C-101B-9397-08002B2CF9AE}" pid="4" name="KSOProductBuildVer">
    <vt:lpwstr>2052-12.1.0.24034</vt:lpwstr>
  </property>
</Properties>
</file>