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71" r:id="rId5"/>
    <p:sldId id="270" r:id="rId6"/>
    <p:sldId id="259" r:id="rId7"/>
    <p:sldId id="260" r:id="rId8"/>
    <p:sldId id="268" r:id="rId9"/>
    <p:sldId id="262" r:id="rId10"/>
    <p:sldId id="263" r:id="rId11"/>
    <p:sldId id="269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2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11" Type="http://schemas.openxmlformats.org/officeDocument/2006/relationships/image" Target="../media/image17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8.png"/><Relationship Id="rId7" Type="http://schemas.openxmlformats.org/officeDocument/2006/relationships/image" Target="../media/image28.sv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38.png"/><Relationship Id="rId7" Type="http://schemas.openxmlformats.org/officeDocument/2006/relationships/image" Target="../media/image18.sv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13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48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image" Target="../media/image55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11" Type="http://schemas.openxmlformats.org/officeDocument/2006/relationships/image" Target="../media/image54.png"/><Relationship Id="rId5" Type="http://schemas.openxmlformats.org/officeDocument/2006/relationships/image" Target="../media/image34.png"/><Relationship Id="rId15" Type="http://schemas.openxmlformats.org/officeDocument/2006/relationships/image" Target="../media/image56.png"/><Relationship Id="rId10" Type="http://schemas.openxmlformats.org/officeDocument/2006/relationships/image" Target="../media/image47.svg"/><Relationship Id="rId4" Type="http://schemas.openxmlformats.org/officeDocument/2006/relationships/image" Target="../media/image51.png"/><Relationship Id="rId9" Type="http://schemas.openxmlformats.org/officeDocument/2006/relationships/image" Target="../media/image46.png"/><Relationship Id="rId14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7.sv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11" Type="http://schemas.openxmlformats.org/officeDocument/2006/relationships/image" Target="../media/image14.svg"/><Relationship Id="rId5" Type="http://schemas.openxmlformats.org/officeDocument/2006/relationships/image" Target="../media/image61.svg"/><Relationship Id="rId15" Type="http://schemas.openxmlformats.org/officeDocument/2006/relationships/image" Target="../media/image65.svg"/><Relationship Id="rId10" Type="http://schemas.openxmlformats.org/officeDocument/2006/relationships/image" Target="../media/image13.png"/><Relationship Id="rId4" Type="http://schemas.openxmlformats.org/officeDocument/2006/relationships/image" Target="../media/image60.png"/><Relationship Id="rId9" Type="http://schemas.openxmlformats.org/officeDocument/2006/relationships/image" Target="../media/image16.svg"/><Relationship Id="rId1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3819118-33A7-4B8D-11B3-EDAF01027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红外测温仪电路系统设计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4826016" y="202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228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毕业设计（论文）开题报告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3833091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934691" y="381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学生姓名：</a:t>
            </a:r>
            <a:r>
              <a:rPr lang="en-US" sz="16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庞琭炜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772727" y="3833091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</a:t>
            </a:r>
            <a:r>
              <a:rPr lang="en-US" sz="16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2200810724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0" y="4445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64000" y="4445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学院：</a:t>
            </a:r>
            <a:r>
              <a:rPr lang="en-US" sz="16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电子工程与自动化学院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000" y="5080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508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专业：</a:t>
            </a:r>
            <a:r>
              <a:rPr lang="en-US" sz="16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56000" y="5715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5715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罗福亚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938447A-1D7C-DA73-83E2-36897809C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49"/>
            <a:ext cx="12192000" cy="685799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41DF454-AA0A-657F-115E-0CE5344A2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50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407">
            <a:off x="762004" y="12001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18034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本课题的研究内容、重点及难点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407">
            <a:off x="762004" y="2406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1999" y="2776888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524000" y="27686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准备情况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4407">
            <a:off x="762006" y="434046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1999" y="375285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523999" y="374015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实施方案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4407">
            <a:off x="762004" y="4438650"/>
            <a:ext cx="9906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cap="flat" cmpd="sng">
            <a:solidFill>
              <a:srgbClr val="FFFFFF">
                <a:alpha val="0"/>
              </a:srgbClr>
            </a:solidFill>
            <a:prstDash val="dash"/>
            <a:round/>
            <a:headEnd type="none"/>
            <a:tailEnd type="none"/>
          </a:ln>
        </p:spPr>
      </p:cxnSp>
      <p:sp>
        <p:nvSpPr>
          <p:cNvPr id="13" name="AutoShape 13"/>
          <p:cNvSpPr/>
          <p:nvPr/>
        </p:nvSpPr>
        <p:spPr>
          <a:xfrm>
            <a:off x="761999" y="4628682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altLang="zh-CN" sz="2400" dirty="0"/>
          </a:p>
        </p:txBody>
      </p:sp>
      <p:sp>
        <p:nvSpPr>
          <p:cNvPr id="14" name="AutoShape 14"/>
          <p:cNvSpPr/>
          <p:nvPr/>
        </p:nvSpPr>
        <p:spPr>
          <a:xfrm>
            <a:off x="1523999" y="4618388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sz="180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进度计划及预期成果</a:t>
            </a:r>
            <a:endParaRPr sz="1800" dirty="0"/>
          </a:p>
        </p:txBody>
      </p:sp>
      <p:cxnSp>
        <p:nvCxnSpPr>
          <p:cNvPr id="15" name="Connector 9">
            <a:extLst>
              <a:ext uri="{FF2B5EF4-FFF2-40B4-BE49-F238E27FC236}">
                <a16:creationId xmlns:a16="http://schemas.microsoft.com/office/drawing/2014/main" id="{38791784-5F28-4DFF-9D9C-D1917E3E22CF}"/>
              </a:ext>
            </a:extLst>
          </p:cNvPr>
          <p:cNvCxnSpPr/>
          <p:nvPr/>
        </p:nvCxnSpPr>
        <p:spPr>
          <a:xfrm rot="-4407">
            <a:off x="762006" y="3429001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B5ABC36E-6489-8F32-9C6F-DE021D922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21642CE-4ACE-E97B-E885-202359199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1.1 研究内容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625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625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系统硬件电路设计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270000" y="203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以STM32F103C8T6为核心，设计红外测温(MLX90614)、OLED显示、按键、声光报警及电源模块，完成接口电路设计。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2946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946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系统软件程序开发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33528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基于C语言与HAL库开发底层驱动、数据采集处理算法、用户交互界面及低功耗管理策略。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26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2672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系统集成与性能测试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4673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进行软硬件集成调试，对测温精度、响应速度、报警功能及功耗等指标进行全面测试与优化。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092">
            <a:off x="762004" y="548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1.2 重点与难点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研究重点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082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200" y="2082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高精度非接触式测温实现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219200" y="2463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35-42°C范围精度达±0.2°C，结合滤波与补偿算法。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276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19200" y="3276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高效多模块协同与响应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19200" y="3657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从触发到稳定显示全过程≤5秒，优化通信与传输。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47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19200" y="4470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智能化人机交互与报警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19200" y="4851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支持0.1°C阈值设定，声光报警响应≤100ms。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89257">
            <a:off x="4064000" y="3549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技术难点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082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34200" y="2082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复杂环境下的精度保持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934200" y="2463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设计动态补偿算法，抵消环境因素带来的系统性误差。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276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34200" y="3276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响应速度与数据稳定性平衡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34200" y="36576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优化采样、滤波及显示策略，避免数据波动导致误判。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470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34200" y="4470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低功耗与功能完整性协调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934200" y="4851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设计合理的电源管理策略，确保休眠唤醒功能可靠。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DBC43DC-B668-BDD7-91A0-E0237AA1ED3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270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4064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准备情况（已查阅的参考文献或进行的调研</a:t>
            </a: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422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2.1 调研情况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10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108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市场需求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19200" y="2463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后疫情时代，医疗、工业等领域对快速、安全的非接触式测温需求持续攀升。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327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19200" y="3327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现有痛点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19200" y="3683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传统方式效率低、有感染风险，主流红外产品在精度、功耗、智能化方面仍有提升空间。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546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19200" y="4546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技术趋势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19200" y="49022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红外测温技术正向高精度、低功耗、智能化方向发展，成为理想解决方案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5389257">
            <a:off x="4064000" y="3549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422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2.2 </a:t>
            </a:r>
            <a:r>
              <a:rPr lang="zh-CN" altLang="en-US" sz="2000" b="1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调研意义</a:t>
            </a:r>
            <a:endParaRPr lang="en-US" sz="1100" dirty="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108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34200" y="2108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理论意义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34200" y="2463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深化对电子测量、智能硬件设计、传感器数据处理等理论的理解与应用。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327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34200" y="3327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实践意义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34200" y="3683000"/>
            <a:ext cx="457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设计一款高精度(±0.2℃)、低功耗、高性价比的红外测温仪，解决实际痛点，具有重要实用价值和市场前景。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2FCE28F-9769-DB07-C172-4E1B306B236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270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D6685804-7EFE-1C07-A031-117F58007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实施方案、进度实施计划及预期提交的毕业设计资料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080000" cy="3390900"/>
          </a:xfrm>
          <a:prstGeom prst="roundRect">
            <a:avLst>
              <a:gd name="adj" fmla="val 299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系统总体设计框图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7124">
            <a:off x="4400550" y="3213112"/>
            <a:ext cx="339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77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828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934200" y="2095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34200" y="24384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STM32F103C8T6 单片机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71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34200" y="2984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供电系统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34200" y="33274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18650锂电池 + AMS1056 稳压芯片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8608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34200" y="387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34200" y="4216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红外测温(MLX90614)、OLED显示、按键输入、声光报警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55118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19200" y="5524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设计特点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19200" y="58674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模块化设计，接口清晰，易于开发与调试，保证系统稳定性与可扩展性。</a:t>
            </a:r>
            <a:endParaRPr 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158753E-60B5-6AF6-4009-902216B178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504" y="1375250"/>
            <a:ext cx="5627096" cy="368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F7F0D51-EA1E-A35D-BCC7-2008B7E0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3.1.1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核心模块详细介绍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172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2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主控单片机模块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65200" y="2082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ARM Cortex-M3内核，72MHz主频。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系统控制中枢，负责I2C/SPI通信、GPIO管理及低功耗休眠唤醒。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172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172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红外测温模块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648200" y="2082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型号：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MLX90614。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出厂校准，非接触高精度I2C数字输出。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捕捉红外辐射，转换为物体/环境温度信号。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00" y="1727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172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LCD显示模块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31200" y="2082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型号：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0.96寸OLED，SSD1306驱动。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自发光高对比度，SPI接口低功耗。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实时显示温度、阈值、电池及工作状态。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381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4013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013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电源与稳压模块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65200" y="4368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18650锂电池。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稳压芯片：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AMS1056。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稳定输出3.3V/5V为系统供电。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445000" y="381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8200" y="40132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80000" y="4013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按键输入模块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648200" y="4368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方式：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独立按键，支持长短按操作。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测量触发、阈值设定、参数调整与确认。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128000" y="381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41E3C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31200" y="40132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763000" y="4013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声光报警模块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331200" y="4368800"/>
            <a:ext cx="2895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组成：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红色LED指示灯 + 有源蜂鸣器。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温度超限启动LED闪烁和蜂鸣器鸣叫。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70FCE9B-91AD-5B15-68E1-8F8B6069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1" y="0"/>
            <a:ext cx="12192000" cy="68579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8443CF6-2A42-A16D-314E-E7137EFA0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3.1.2 </a:t>
            </a: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系统整体设计</a:t>
            </a:r>
            <a:endParaRPr lang="en-US" sz="1100" dirty="0"/>
          </a:p>
        </p:txBody>
      </p:sp>
      <p:cxnSp>
        <p:nvCxnSpPr>
          <p:cNvPr id="3" name="Connector 3"/>
          <p:cNvCxnSpPr>
            <a:cxnSpLocks/>
          </p:cNvCxnSpPr>
          <p:nvPr/>
        </p:nvCxnSpPr>
        <p:spPr>
          <a:xfrm>
            <a:off x="762000" y="1168399"/>
            <a:ext cx="5321299" cy="1270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524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536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系统上电初始化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006600"/>
            <a:ext cx="4572000" cy="1257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</a:t>
            </a:r>
            <a:r>
              <a:rPr lang="en-US" altLang="zh-CN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IO口、定时器、I2C等外设</a:t>
            </a: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MCU、及LCD屏幕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425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进入待机模式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74955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系统低功耗运行，等待用户操作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330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3314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按键扫描与数据采集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3644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唤醒系统，通过I2C读取传感器数据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419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4203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数据处理与显示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4533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滤波补偿后，将温度值显示在LCD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5080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5092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超限判断与报警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70000" y="5422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超限则启动声光报警，30秒无操作自动休眠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12200" y="2667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3429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软件整体流程图</a:t>
            </a:r>
            <a:endParaRPr lang="en-US" sz="11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64D2341-B16C-DADC-142F-5E316E4169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46938" y="248371"/>
            <a:ext cx="3540124" cy="64120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>
            <a:extLst>
              <a:ext uri="{FF2B5EF4-FFF2-40B4-BE49-F238E27FC236}">
                <a16:creationId xmlns:a16="http://schemas.microsoft.com/office/drawing/2014/main" id="{9E19BEB2-237B-D88B-ACF4-4BCD6F52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2700" y="-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 </a:t>
            </a: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进度实施计划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20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.1 </a:t>
            </a:r>
            <a:r>
              <a:rPr lang="en-US" sz="20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进度实施计划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032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68400" y="2032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 (2025.12.15 - 2025.12.28)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68400" y="23368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查阅文献，完成开题报告。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794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68400" y="279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 (2025.12.29 - 2026.01.04)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68400" y="30988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方案论证，算法学习。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556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68400" y="3556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 (2026.01.05 - 2026.01.25)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68400" y="38608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硬件电路设计与制作。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318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168400" y="4318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第四阶段 (2026.01.26 - 2026.02.22)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68400" y="46228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软件编程与调试。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080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168400" y="5080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后续阶段 (2026.02.23 - 2026.04.05)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68400" y="53848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系统集成、论文撰写与答辩。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20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.2 </a:t>
            </a:r>
            <a:r>
              <a:rPr lang="en-US" sz="20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预期提交的毕业设计资料</a:t>
            </a:r>
            <a:endParaRPr lang="en-US" sz="1100" dirty="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34200" y="2044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设计成果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34200" y="2349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完整的硬件电路原理图与PCB文件。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857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34200" y="28702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软件成果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934200" y="31750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完整的系统控制代码（C语言）。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934200" y="3695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实物成果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934200" y="4000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一台可以正常工作的红外测温仪样机。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508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934200" y="45212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文档成果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934200" y="48260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毕业论文及各类报告。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53340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934200" y="5346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其他成果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934200" y="56515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英文文献翻译材料。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9AE3DB7-2A16-0CAE-3718-106869C4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58F1F91-93DC-5161-6EAE-03CACF1A2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" y="0"/>
            <a:ext cx="12192000" cy="685799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609600" y="6096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/>
          <p:cNvCxnSpPr/>
          <p:nvPr/>
        </p:nvCxnSpPr>
        <p:spPr>
          <a:xfrm rot="-3978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A1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609600" y="1524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[1]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屈海朋,梁飞,王清珍.基于STM32的非接触式红外体温测量仪的设计[J].工业控制计算机,2022,35(06):128-129+132.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2349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[2]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陶杰,王欣,孙慧贤,等.基于MLX90614的温度实时检测系统[J].电子技术与软件工程,2017,(21):75.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3175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[3]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郭志庭,陶军全.基于STM32和MLX90614的红外测温仪设计[J].造纸装备及材料,2024,53(01):15-17.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" y="4000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[4]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郭文红.红外测温仪的主要工作原理及应用实践[J].仪器仪表用户,2024,31(05):104-106+109.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" y="4826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[5]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范书健,宋宁宁,裴晓娟,等.智能红外测温仪的测量影响因素研究[J].中国医疗设备,2025,40(08):32-37.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9257">
            <a:off x="4064000" y="3549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A1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502400" y="1524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[6]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方潮海,叶良伟,朱丽军.基于单片机的非接触式红外测温仪研究[J].科技风,2014,(14):50-51.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502400" y="2349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[7]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杜晓.MLX90601系列模块及其在红外测温仪中的应用[J].现代电子技术,2006,(22):12-14.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02400" y="3175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[8]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Zhang Z, Tang M, Gu R, et al. A remote infrared MEMS thermopile sensor for non-contact temperature measurement[J]. Sensors and Actuators: A. Physical, 2026, 397.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02400" y="4000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[9]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Bai J, Yang W, Zhu S, et al. A high-precision 1×15 infrared temperature measurement linear array[J]. Communications engineering, 2025, 4(1): 119.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502400" y="4826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3A1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[10]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Altuntaş H, Arslan S M. A New Approach for Infrared Temperature Measurement Sensor Systems[J]. Sensors, 2025, 25(1): 235.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2413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68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敬请指导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724</Words>
  <Application>Microsoft Office PowerPoint</Application>
  <PresentationFormat>宽屏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琭炜 庞</cp:lastModifiedBy>
  <cp:revision>6</cp:revision>
  <dcterms:modified xsi:type="dcterms:W3CDTF">2026-01-04T05:31:45Z</dcterms:modified>
</cp:coreProperties>
</file>