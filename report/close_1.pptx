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8" r:id="rId4"/>
    <p:sldId id="260" r:id="rId5"/>
    <p:sldId id="265" r:id="rId6"/>
    <p:sldId id="261" r:id="rId7"/>
    <p:sldId id="264" r:id="rId8"/>
    <p:sldId id="262" r:id="rId9"/>
    <p:sldId id="405" r:id="rId10"/>
    <p:sldId id="266" r:id="rId11"/>
    <p:sldId id="263" r:id="rId12"/>
    <p:sldId id="403" r:id="rId13"/>
    <p:sldId id="406" r:id="rId14"/>
    <p:sldId id="257" r:id="rId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6" d="100"/>
          <a:sy n="86" d="100"/>
        </p:scale>
        <p:origin x="71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27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1FBD2-109D-4441-8B29-197B699E18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57C66-4A65-41A4-9D87-603E0FCB8A9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0">
        <p15:prstTrans prst="pageCurlDouble"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568" y="1"/>
            <a:ext cx="12198568" cy="475454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-6568" y="5857335"/>
            <a:ext cx="12198568" cy="1000665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7"/>
          <p:cNvSpPr/>
          <p:nvPr/>
        </p:nvSpPr>
        <p:spPr>
          <a:xfrm>
            <a:off x="3228340" y="4999355"/>
            <a:ext cx="5728970" cy="78041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5" name="梯形 4"/>
          <p:cNvSpPr/>
          <p:nvPr/>
        </p:nvSpPr>
        <p:spPr>
          <a:xfrm flipV="1">
            <a:off x="1442049" y="345384"/>
            <a:ext cx="9307902" cy="273890"/>
          </a:xfrm>
          <a:prstGeom prst="trapezoid">
            <a:avLst>
              <a:gd name="adj" fmla="val 4429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21"/>
          <p:cNvSpPr txBox="1"/>
          <p:nvPr/>
        </p:nvSpPr>
        <p:spPr>
          <a:xfrm>
            <a:off x="1166189" y="2820579"/>
            <a:ext cx="985305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毕业设计开题答辩</a:t>
            </a:r>
            <a:endParaRPr lang="zh-CN" altLang="en-US" sz="54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21"/>
          <p:cNvSpPr txBox="1"/>
          <p:nvPr/>
        </p:nvSpPr>
        <p:spPr>
          <a:xfrm>
            <a:off x="3862070" y="5140960"/>
            <a:ext cx="4467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汇报人：张琳  指导教师：</a:t>
            </a:r>
            <a:r>
              <a:rPr lang="zh-CN" altLang="en-US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于彪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756780" y="3783346"/>
            <a:ext cx="8671871" cy="0"/>
          </a:xfrm>
          <a:prstGeom prst="line">
            <a:avLst/>
          </a:prstGeom>
          <a:ln w="12700">
            <a:solidFill>
              <a:srgbClr val="3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KSO_Shape"/>
          <p:cNvSpPr>
            <a:spLocks noChangeArrowheads="1"/>
          </p:cNvSpPr>
          <p:nvPr/>
        </p:nvSpPr>
        <p:spPr bwMode="auto">
          <a:xfrm>
            <a:off x="5346612" y="1356308"/>
            <a:ext cx="1492206" cy="942900"/>
          </a:xfrm>
          <a:custGeom>
            <a:avLst/>
            <a:gdLst>
              <a:gd name="connsiteX0" fmla="*/ 104550 w 604718"/>
              <a:gd name="connsiteY0" fmla="*/ 208330 h 382112"/>
              <a:gd name="connsiteX1" fmla="*/ 156180 w 604718"/>
              <a:gd name="connsiteY1" fmla="*/ 208330 h 382112"/>
              <a:gd name="connsiteX2" fmla="*/ 261642 w 604718"/>
              <a:gd name="connsiteY2" fmla="*/ 248878 h 382112"/>
              <a:gd name="connsiteX3" fmla="*/ 298947 w 604718"/>
              <a:gd name="connsiteY3" fmla="*/ 255007 h 382112"/>
              <a:gd name="connsiteX4" fmla="*/ 340187 w 604718"/>
              <a:gd name="connsiteY4" fmla="*/ 247621 h 382112"/>
              <a:gd name="connsiteX5" fmla="*/ 433687 w 604718"/>
              <a:gd name="connsiteY5" fmla="*/ 208330 h 382112"/>
              <a:gd name="connsiteX6" fmla="*/ 490825 w 604718"/>
              <a:gd name="connsiteY6" fmla="*/ 208330 h 382112"/>
              <a:gd name="connsiteX7" fmla="*/ 490825 w 604718"/>
              <a:gd name="connsiteY7" fmla="*/ 271509 h 382112"/>
              <a:gd name="connsiteX8" fmla="*/ 458400 w 604718"/>
              <a:gd name="connsiteY8" fmla="*/ 320701 h 382112"/>
              <a:gd name="connsiteX9" fmla="*/ 329326 w 604718"/>
              <a:gd name="connsiteY9" fmla="*/ 376337 h 382112"/>
              <a:gd name="connsiteX10" fmla="*/ 264632 w 604718"/>
              <a:gd name="connsiteY10" fmla="*/ 376337 h 382112"/>
              <a:gd name="connsiteX11" fmla="*/ 136819 w 604718"/>
              <a:gd name="connsiteY11" fmla="*/ 320701 h 382112"/>
              <a:gd name="connsiteX12" fmla="*/ 104550 w 604718"/>
              <a:gd name="connsiteY12" fmla="*/ 271509 h 382112"/>
              <a:gd name="connsiteX13" fmla="*/ 300973 w 604718"/>
              <a:gd name="connsiteY13" fmla="*/ 5 h 382112"/>
              <a:gd name="connsiteX14" fmla="*/ 334162 w 604718"/>
              <a:gd name="connsiteY14" fmla="*/ 4701 h 382112"/>
              <a:gd name="connsiteX15" fmla="*/ 581267 w 604718"/>
              <a:gd name="connsiteY15" fmla="*/ 92552 h 382112"/>
              <a:gd name="connsiteX16" fmla="*/ 588822 w 604718"/>
              <a:gd name="connsiteY16" fmla="*/ 114398 h 382112"/>
              <a:gd name="connsiteX17" fmla="*/ 589136 w 604718"/>
              <a:gd name="connsiteY17" fmla="*/ 114398 h 382112"/>
              <a:gd name="connsiteX18" fmla="*/ 589136 w 604718"/>
              <a:gd name="connsiteY18" fmla="*/ 270771 h 382112"/>
              <a:gd name="connsiteX19" fmla="*/ 604718 w 604718"/>
              <a:gd name="connsiteY19" fmla="*/ 321376 h 382112"/>
              <a:gd name="connsiteX20" fmla="*/ 561278 w 604718"/>
              <a:gd name="connsiteY20" fmla="*/ 321376 h 382112"/>
              <a:gd name="connsiteX21" fmla="*/ 576388 w 604718"/>
              <a:gd name="connsiteY21" fmla="*/ 271242 h 382112"/>
              <a:gd name="connsiteX22" fmla="*/ 576388 w 604718"/>
              <a:gd name="connsiteY22" fmla="*/ 120370 h 382112"/>
              <a:gd name="connsiteX23" fmla="*/ 333376 w 604718"/>
              <a:gd name="connsiteY23" fmla="*/ 222680 h 382112"/>
              <a:gd name="connsiteX24" fmla="*/ 268058 w 604718"/>
              <a:gd name="connsiteY24" fmla="*/ 223780 h 382112"/>
              <a:gd name="connsiteX25" fmla="*/ 13556 w 604718"/>
              <a:gd name="connsiteY25" fmla="*/ 125870 h 382112"/>
              <a:gd name="connsiteX26" fmla="*/ 13714 w 604718"/>
              <a:gd name="connsiteY26" fmla="*/ 100882 h 382112"/>
              <a:gd name="connsiteX27" fmla="*/ 267901 w 604718"/>
              <a:gd name="connsiteY27" fmla="*/ 5329 h 382112"/>
              <a:gd name="connsiteX28" fmla="*/ 300973 w 604718"/>
              <a:gd name="connsiteY28" fmla="*/ 5 h 3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4718" h="382112">
                <a:moveTo>
                  <a:pt x="104550" y="208330"/>
                </a:moveTo>
                <a:lnTo>
                  <a:pt x="156180" y="208330"/>
                </a:lnTo>
                <a:lnTo>
                  <a:pt x="261642" y="248878"/>
                </a:lnTo>
                <a:cubicBezTo>
                  <a:pt x="274864" y="253907"/>
                  <a:pt x="289188" y="255007"/>
                  <a:pt x="298947" y="255007"/>
                </a:cubicBezTo>
                <a:cubicBezTo>
                  <a:pt x="314373" y="255007"/>
                  <a:pt x="329012" y="252493"/>
                  <a:pt x="340187" y="247621"/>
                </a:cubicBezTo>
                <a:lnTo>
                  <a:pt x="433687" y="208330"/>
                </a:lnTo>
                <a:lnTo>
                  <a:pt x="490825" y="208330"/>
                </a:lnTo>
                <a:lnTo>
                  <a:pt x="490825" y="271509"/>
                </a:lnTo>
                <a:cubicBezTo>
                  <a:pt x="490825" y="290998"/>
                  <a:pt x="476344" y="313000"/>
                  <a:pt x="458400" y="320701"/>
                </a:cubicBezTo>
                <a:lnTo>
                  <a:pt x="329326" y="376337"/>
                </a:lnTo>
                <a:cubicBezTo>
                  <a:pt x="311382" y="384038"/>
                  <a:pt x="282419" y="384038"/>
                  <a:pt x="264632" y="376337"/>
                </a:cubicBezTo>
                <a:lnTo>
                  <a:pt x="136819" y="320701"/>
                </a:lnTo>
                <a:cubicBezTo>
                  <a:pt x="119032" y="313000"/>
                  <a:pt x="104550" y="290998"/>
                  <a:pt x="104550" y="271509"/>
                </a:cubicBezTo>
                <a:close/>
                <a:moveTo>
                  <a:pt x="300973" y="5"/>
                </a:moveTo>
                <a:cubicBezTo>
                  <a:pt x="312954" y="-93"/>
                  <a:pt x="324955" y="1479"/>
                  <a:pt x="334162" y="4701"/>
                </a:cubicBezTo>
                <a:lnTo>
                  <a:pt x="581267" y="92552"/>
                </a:lnTo>
                <a:cubicBezTo>
                  <a:pt x="596849" y="98053"/>
                  <a:pt x="599210" y="107168"/>
                  <a:pt x="588822" y="114398"/>
                </a:cubicBezTo>
                <a:lnTo>
                  <a:pt x="589136" y="114398"/>
                </a:lnTo>
                <a:lnTo>
                  <a:pt x="589136" y="270771"/>
                </a:lnTo>
                <a:lnTo>
                  <a:pt x="604718" y="321376"/>
                </a:lnTo>
                <a:lnTo>
                  <a:pt x="561278" y="321376"/>
                </a:lnTo>
                <a:lnTo>
                  <a:pt x="576388" y="271242"/>
                </a:lnTo>
                <a:lnTo>
                  <a:pt x="576388" y="120370"/>
                </a:lnTo>
                <a:lnTo>
                  <a:pt x="333376" y="222680"/>
                </a:lnTo>
                <a:cubicBezTo>
                  <a:pt x="315433" y="230224"/>
                  <a:pt x="286158" y="230695"/>
                  <a:pt x="268058" y="223780"/>
                </a:cubicBezTo>
                <a:lnTo>
                  <a:pt x="13556" y="125870"/>
                </a:lnTo>
                <a:cubicBezTo>
                  <a:pt x="-4544" y="118798"/>
                  <a:pt x="-4544" y="107640"/>
                  <a:pt x="13714" y="100882"/>
                </a:cubicBezTo>
                <a:lnTo>
                  <a:pt x="267901" y="5329"/>
                </a:lnTo>
                <a:cubicBezTo>
                  <a:pt x="277030" y="1872"/>
                  <a:pt x="288991" y="104"/>
                  <a:pt x="300973" y="5"/>
                </a:cubicBezTo>
                <a:close/>
              </a:path>
            </a:pathLst>
          </a:custGeom>
          <a:solidFill>
            <a:srgbClr val="3B4761"/>
          </a:solidFill>
          <a:ln>
            <a:noFill/>
          </a:ln>
        </p:spPr>
        <p:txBody>
          <a:bodyPr lIns="121917" tIns="60958" rIns="121917" bIns="60958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1" name="文本框 21"/>
          <p:cNvSpPr txBox="1"/>
          <p:nvPr/>
        </p:nvSpPr>
        <p:spPr>
          <a:xfrm>
            <a:off x="3346450" y="3950335"/>
            <a:ext cx="5636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智能物流分拣控制系统设计</a:t>
            </a:r>
            <a:endParaRPr lang="zh-CN" altLang="en-US" sz="3200" b="1" spc="300" dirty="0">
              <a:solidFill>
                <a:schemeClr val="tx1">
                  <a:lumMod val="85000"/>
                  <a:lumOff val="1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995207" y="2338992"/>
            <a:ext cx="2745235" cy="2745235"/>
          </a:xfrm>
          <a:prstGeom prst="ellipse">
            <a:avLst/>
          </a:prstGeom>
          <a:solidFill>
            <a:srgbClr val="3B47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6568" y="1"/>
            <a:ext cx="12198568" cy="475454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6568" y="6181344"/>
            <a:ext cx="12198568" cy="676656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5" name="圆角矩形 7"/>
          <p:cNvSpPr/>
          <p:nvPr/>
        </p:nvSpPr>
        <p:spPr>
          <a:xfrm>
            <a:off x="3381556" y="302318"/>
            <a:ext cx="5080958" cy="48190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1"/>
          <p:cNvSpPr txBox="1"/>
          <p:nvPr/>
        </p:nvSpPr>
        <p:spPr>
          <a:xfrm>
            <a:off x="2511088" y="2567304"/>
            <a:ext cx="1671617" cy="861770"/>
          </a:xfrm>
          <a:prstGeom prst="rect">
            <a:avLst/>
          </a:prstGeom>
          <a:noFill/>
        </p:spPr>
        <p:txBody>
          <a:bodyPr vert="horz" wrap="square" lIns="121917" tIns="60958" rIns="121917" bIns="60958" rtlCol="0">
            <a:spAutoFit/>
          </a:bodyPr>
          <a:lstStyle/>
          <a:p>
            <a:pPr algn="ctr"/>
            <a:r>
              <a:rPr lang="zh-CN" altLang="en-US" sz="4800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目 录</a:t>
            </a:r>
            <a:endParaRPr lang="en-US" altLang="zh-CN" sz="4800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2301493" y="3950003"/>
            <a:ext cx="2114936" cy="369328"/>
          </a:xfrm>
          <a:prstGeom prst="rect">
            <a:avLst/>
          </a:prstGeom>
          <a:noFill/>
        </p:spPr>
        <p:txBody>
          <a:bodyPr vert="horz" wrap="square" lIns="121917" tIns="60958" rIns="121917" bIns="60958" rtlCol="0">
            <a:spAutoFit/>
          </a:bodyPr>
          <a:lstStyle/>
          <a:p>
            <a:pPr algn="ctr"/>
            <a:r>
              <a:rPr lang="en-US" altLang="zh-CN" sz="1600" spc="267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CONTENTS</a:t>
            </a:r>
            <a:endParaRPr lang="en-US" altLang="zh-CN" sz="1600" spc="267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0" name="圆角矩形 2"/>
          <p:cNvSpPr/>
          <p:nvPr>
            <p:custDataLst>
              <p:tags r:id="rId1"/>
            </p:custDataLst>
          </p:nvPr>
        </p:nvSpPr>
        <p:spPr>
          <a:xfrm>
            <a:off x="6254958" y="2057509"/>
            <a:ext cx="618268" cy="618268"/>
          </a:xfrm>
          <a:prstGeom prst="round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6301805" y="1991056"/>
            <a:ext cx="1147759" cy="639214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3"/>
                  <a:srcRect/>
                  <a:stretch>
                    <a:fillRect/>
                  </a:stretch>
                </a:blip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2600" b="0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01</a:t>
            </a:r>
            <a:endParaRPr lang="en-US" altLang="zh-CN" sz="2600" b="0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2" name="TextBox 6"/>
          <p:cNvSpPr txBox="1"/>
          <p:nvPr>
            <p:custDataLst>
              <p:tags r:id="rId4"/>
            </p:custDataLst>
          </p:nvPr>
        </p:nvSpPr>
        <p:spPr>
          <a:xfrm>
            <a:off x="7068185" y="2987040"/>
            <a:ext cx="2904490" cy="4914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选题背景与</a:t>
            </a:r>
            <a:r>
              <a:rPr lang="zh-CN" altLang="en-US" sz="26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意义</a:t>
            </a:r>
            <a:endParaRPr lang="zh-CN" altLang="en-US" sz="2600" spc="4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4" name="圆角矩形 38"/>
          <p:cNvSpPr/>
          <p:nvPr>
            <p:custDataLst>
              <p:tags r:id="rId5"/>
            </p:custDataLst>
          </p:nvPr>
        </p:nvSpPr>
        <p:spPr>
          <a:xfrm>
            <a:off x="6254958" y="3800887"/>
            <a:ext cx="618268" cy="618268"/>
          </a:xfrm>
          <a:prstGeom prst="round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6262095" y="3730478"/>
            <a:ext cx="1147759" cy="639214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3"/>
                  <a:srcRect/>
                  <a:stretch>
                    <a:fillRect/>
                  </a:stretch>
                </a:blip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2600" b="0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03</a:t>
            </a:r>
            <a:endParaRPr lang="en-US" altLang="zh-CN" sz="2600" b="0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6" name="TextBox 6"/>
          <p:cNvSpPr txBox="1"/>
          <p:nvPr>
            <p:custDataLst>
              <p:tags r:id="rId7"/>
            </p:custDataLst>
          </p:nvPr>
        </p:nvSpPr>
        <p:spPr>
          <a:xfrm>
            <a:off x="7025433" y="4773007"/>
            <a:ext cx="2962812" cy="4914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研究方法</a:t>
            </a:r>
            <a:endParaRPr lang="zh-CN" altLang="en-US" sz="2600" spc="4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8" name="圆角矩形 41"/>
          <p:cNvSpPr/>
          <p:nvPr>
            <p:custDataLst>
              <p:tags r:id="rId8"/>
            </p:custDataLst>
          </p:nvPr>
        </p:nvSpPr>
        <p:spPr>
          <a:xfrm>
            <a:off x="6254958" y="2924884"/>
            <a:ext cx="618268" cy="618268"/>
          </a:xfrm>
          <a:prstGeom prst="round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6268691" y="2863103"/>
            <a:ext cx="1147759" cy="639214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3"/>
                  <a:srcRect/>
                  <a:stretch>
                    <a:fillRect/>
                  </a:stretch>
                </a:blip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2600" b="0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02</a:t>
            </a:r>
            <a:endParaRPr lang="en-US" altLang="zh-CN" sz="2600" b="0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0" name="TextBox 6"/>
          <p:cNvSpPr txBox="1"/>
          <p:nvPr>
            <p:custDataLst>
              <p:tags r:id="rId10"/>
            </p:custDataLst>
          </p:nvPr>
        </p:nvSpPr>
        <p:spPr>
          <a:xfrm>
            <a:off x="7026567" y="3892152"/>
            <a:ext cx="3170861" cy="4914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研究内容</a:t>
            </a:r>
            <a:r>
              <a:rPr lang="zh-CN" altLang="en-US" sz="26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与目的</a:t>
            </a:r>
            <a:endParaRPr lang="zh-CN" altLang="en-US" sz="2600" spc="4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2" name="圆角矩形 42"/>
          <p:cNvSpPr/>
          <p:nvPr>
            <p:custDataLst>
              <p:tags r:id="rId11"/>
            </p:custDataLst>
          </p:nvPr>
        </p:nvSpPr>
        <p:spPr>
          <a:xfrm>
            <a:off x="6254958" y="4710149"/>
            <a:ext cx="618268" cy="618268"/>
          </a:xfrm>
          <a:prstGeom prst="round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6259547" y="4621452"/>
            <a:ext cx="1147759" cy="639214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3"/>
                  <a:srcRect/>
                  <a:stretch>
                    <a:fillRect/>
                  </a:stretch>
                </a:blip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2600" b="0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04</a:t>
            </a:r>
            <a:endParaRPr lang="en-US" altLang="zh-CN" sz="2600" b="0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68185" y="2158365"/>
            <a:ext cx="2724150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6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国内外现状</a:t>
            </a:r>
            <a:endParaRPr lang="zh-CN" altLang="en-US" sz="2600" spc="4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568" y="1"/>
            <a:ext cx="12198568" cy="475454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6568" y="6181344"/>
            <a:ext cx="12198568" cy="676656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5" name="圆角矩形 7"/>
          <p:cNvSpPr/>
          <p:nvPr/>
        </p:nvSpPr>
        <p:spPr>
          <a:xfrm>
            <a:off x="3381556" y="302318"/>
            <a:ext cx="5080958" cy="48190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"/>
          <p:cNvSpPr/>
          <p:nvPr/>
        </p:nvSpPr>
        <p:spPr>
          <a:xfrm>
            <a:off x="3449432" y="2774004"/>
            <a:ext cx="930387" cy="930387"/>
          </a:xfrm>
          <a:prstGeom prst="round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544339" y="2732397"/>
            <a:ext cx="1147759" cy="849592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1"/>
                  <a:srcRect/>
                  <a:stretch>
                    <a:fillRect/>
                  </a:stretch>
                </a:blip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3600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01</a:t>
            </a:r>
            <a:endParaRPr lang="en-US" altLang="zh-CN" sz="3600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651498" y="2885254"/>
            <a:ext cx="4404430" cy="7067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40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 </a:t>
            </a:r>
            <a:r>
              <a:rPr lang="zh-CN" altLang="en-US" sz="40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国内外</a:t>
            </a:r>
            <a:r>
              <a:rPr lang="zh-CN" altLang="en-US" sz="40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现状</a:t>
            </a:r>
            <a:endParaRPr lang="zh-CN" altLang="en-US" sz="4000" spc="4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651498" y="3667815"/>
            <a:ext cx="5342894" cy="0"/>
          </a:xfrm>
          <a:prstGeom prst="line">
            <a:avLst/>
          </a:prstGeom>
          <a:ln>
            <a:solidFill>
              <a:srgbClr val="3B4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568" y="1"/>
            <a:ext cx="12198568" cy="258791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6568" y="6573328"/>
            <a:ext cx="12198568" cy="284672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6"/>
          <p:cNvSpPr txBox="1"/>
          <p:nvPr/>
        </p:nvSpPr>
        <p:spPr>
          <a:xfrm>
            <a:off x="450850" y="662940"/>
            <a:ext cx="371856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spc="400" dirty="0">
                <a:solidFill>
                  <a:srgbClr val="3B476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国内外相关研究综</a:t>
            </a:r>
            <a:r>
              <a:rPr lang="zh-CN" altLang="en-US" sz="2400" spc="400" dirty="0">
                <a:solidFill>
                  <a:srgbClr val="3B476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述</a:t>
            </a:r>
            <a:endParaRPr lang="zh-CN" altLang="en-US" sz="2400" spc="400" dirty="0">
              <a:solidFill>
                <a:srgbClr val="3B476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-85193" y="683915"/>
            <a:ext cx="525979" cy="355592"/>
          </a:xfrm>
          <a:prstGeom prst="triangle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2" name="菱形 1"/>
          <p:cNvSpPr/>
          <p:nvPr/>
        </p:nvSpPr>
        <p:spPr>
          <a:xfrm>
            <a:off x="749300" y="1945640"/>
            <a:ext cx="1983740" cy="1050925"/>
          </a:xfrm>
          <a:prstGeom prst="diamond">
            <a:avLst/>
          </a:prstGeom>
          <a:noFill/>
          <a:ln w="174625">
            <a:solidFill>
              <a:srgbClr val="3B47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20" name="菱形 19"/>
          <p:cNvSpPr/>
          <p:nvPr/>
        </p:nvSpPr>
        <p:spPr>
          <a:xfrm>
            <a:off x="565785" y="4566285"/>
            <a:ext cx="2167255" cy="1063625"/>
          </a:xfrm>
          <a:prstGeom prst="diamond">
            <a:avLst/>
          </a:prstGeom>
          <a:noFill/>
          <a:ln w="174625">
            <a:solidFill>
              <a:srgbClr val="3B47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871470" y="1527175"/>
            <a:ext cx="6938010" cy="2063750"/>
          </a:xfrm>
          <a:prstGeom prst="rect">
            <a:avLst/>
          </a:prstGeom>
          <a:noFill/>
          <a:ln w="19050">
            <a:solidFill>
              <a:srgbClr val="3B47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2871470" y="4241800"/>
            <a:ext cx="6938010" cy="1974215"/>
          </a:xfrm>
          <a:prstGeom prst="rect">
            <a:avLst/>
          </a:prstGeom>
          <a:noFill/>
          <a:ln w="19050">
            <a:solidFill>
              <a:srgbClr val="3B47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81735" y="2301875"/>
            <a:ext cx="1118235" cy="513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00B0F0"/>
                </a:solidFill>
              </a:rPr>
              <a:t>国内现状</a:t>
            </a:r>
            <a:endParaRPr lang="zh-CN" altLang="en-US" b="1">
              <a:solidFill>
                <a:srgbClr val="00B0F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84580" y="4923790"/>
            <a:ext cx="1130300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00B0F0"/>
                </a:solidFill>
              </a:rPr>
              <a:t>国外现状</a:t>
            </a:r>
            <a:endParaRPr lang="zh-CN" altLang="en-US" b="1">
              <a:solidFill>
                <a:srgbClr val="00B0F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96615" y="1616710"/>
            <a:ext cx="576008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我国自动分拣技术发展迅速，呈现出明显的应用导向特征。京东物流的</a:t>
            </a:r>
            <a:r>
              <a:rPr lang="en-US" altLang="zh-CN" sz="1600"/>
              <a:t>"</a:t>
            </a:r>
            <a:r>
              <a:rPr lang="zh-CN" altLang="en-US" sz="1600"/>
              <a:t>智能分拣机器人矩阵</a:t>
            </a:r>
            <a:r>
              <a:rPr lang="en-US" altLang="zh-CN" sz="1600"/>
              <a:t>"</a:t>
            </a:r>
            <a:r>
              <a:rPr lang="zh-CN" altLang="en-US" sz="1600"/>
              <a:t>采用二维码导航实现柔性部署，阿里菜鸟建立视觉识别与自动称量系统，顺丰广泛应用高速交叉带分拣设备。学术研究方面，华中科技大学研究传感器融合控制，北京交通大学优化分拣路径算法。技术路线形成高、中、低三档方案，基于</a:t>
            </a:r>
            <a:r>
              <a:rPr lang="en-US" altLang="zh-CN" sz="1600"/>
              <a:t>STM32</a:t>
            </a:r>
            <a:r>
              <a:rPr lang="zh-CN" altLang="en-US" sz="1600"/>
              <a:t>、</a:t>
            </a:r>
            <a:r>
              <a:rPr lang="en-US" altLang="zh-CN" sz="1600"/>
              <a:t>ESP32</a:t>
            </a:r>
            <a:r>
              <a:rPr lang="zh-CN" altLang="en-US" sz="1600"/>
              <a:t>等嵌入式平台因成本优势在中小仓储广泛应用，系统架构趋向物联网化与数据可视化。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3228340" y="4368800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国际自动分拣技术起步较早，亚马逊</a:t>
            </a:r>
            <a:r>
              <a:rPr lang="en-US" altLang="zh-CN" sz="1600"/>
              <a:t>Kiva</a:t>
            </a:r>
            <a:r>
              <a:rPr lang="zh-CN" altLang="en-US" sz="1600"/>
              <a:t>系统通过移动机器人实现群体协作，</a:t>
            </a:r>
            <a:r>
              <a:rPr lang="en-US" altLang="zh-CN" sz="1600"/>
              <a:t>DHL</a:t>
            </a:r>
            <a:r>
              <a:rPr lang="zh-CN" altLang="en-US" sz="1600"/>
              <a:t>、</a:t>
            </a:r>
            <a:r>
              <a:rPr lang="en-US" altLang="zh-CN" sz="1600"/>
              <a:t>UPS</a:t>
            </a:r>
            <a:r>
              <a:rPr lang="zh-CN" altLang="en-US" sz="1600"/>
              <a:t>等采用高速分拣设备结合线阵相机、</a:t>
            </a:r>
            <a:r>
              <a:rPr lang="en-US" altLang="zh-CN" sz="1600"/>
              <a:t>RFID</a:t>
            </a:r>
            <a:r>
              <a:rPr lang="zh-CN" altLang="en-US" sz="1600"/>
              <a:t>技术。学术研究注重算法创新，</a:t>
            </a:r>
            <a:r>
              <a:rPr lang="en-US" altLang="zh-CN" sz="1600"/>
              <a:t>MIT</a:t>
            </a:r>
            <a:r>
              <a:rPr lang="zh-CN" altLang="en-US" sz="1600"/>
              <a:t>研究强化学习自主决策，斯坦福开发分布式多机器人控制方法，欧洲高校致力于模块化工作站研究。硬件平台多采用</a:t>
            </a:r>
            <a:r>
              <a:rPr lang="en-US" altLang="zh-CN" sz="1600"/>
              <a:t>NVIDIA Jetson</a:t>
            </a:r>
            <a:r>
              <a:rPr lang="zh-CN" altLang="en-US" sz="1600"/>
              <a:t>等高性能设备，支持复杂视觉算法，整体技术路线强调高吞吐量、高自动化等级，适用于大型物流中心。</a:t>
            </a:r>
            <a:endParaRPr lang="zh-CN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568" y="1"/>
            <a:ext cx="12198568" cy="475454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6568" y="6181344"/>
            <a:ext cx="12198568" cy="676656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5" name="圆角矩形 7"/>
          <p:cNvSpPr/>
          <p:nvPr/>
        </p:nvSpPr>
        <p:spPr>
          <a:xfrm>
            <a:off x="3381556" y="302318"/>
            <a:ext cx="5080958" cy="48190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"/>
          <p:cNvSpPr/>
          <p:nvPr/>
        </p:nvSpPr>
        <p:spPr>
          <a:xfrm>
            <a:off x="3449432" y="2774004"/>
            <a:ext cx="930387" cy="930387"/>
          </a:xfrm>
          <a:prstGeom prst="round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503739" y="2732397"/>
            <a:ext cx="1147759" cy="849592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1"/>
                  <a:srcRect/>
                  <a:stretch>
                    <a:fillRect/>
                  </a:stretch>
                </a:blip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3600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02</a:t>
            </a:r>
            <a:endParaRPr lang="en-US" altLang="zh-CN" sz="3600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651498" y="2885254"/>
            <a:ext cx="4404430" cy="7067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40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</a:t>
            </a:r>
            <a:r>
              <a:rPr lang="zh-CN" altLang="en-US" sz="40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选题背景与意义</a:t>
            </a:r>
            <a:endParaRPr lang="zh-CN" altLang="en-US" sz="4000" spc="4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651498" y="3667815"/>
            <a:ext cx="5342894" cy="0"/>
          </a:xfrm>
          <a:prstGeom prst="line">
            <a:avLst/>
          </a:prstGeom>
          <a:ln>
            <a:solidFill>
              <a:srgbClr val="3B4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/>
          <p:nvPr/>
        </p:nvPicPr>
        <p:blipFill>
          <a:blip r:embed="rId1"/>
          <a:srcRect l="9226" t="2667"/>
          <a:stretch>
            <a:fillRect/>
          </a:stretch>
        </p:blipFill>
        <p:spPr>
          <a:xfrm>
            <a:off x="8980805" y="4210050"/>
            <a:ext cx="3211195" cy="23634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6568" y="1"/>
            <a:ext cx="12198568" cy="258791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6568" y="6573328"/>
            <a:ext cx="12198568" cy="284672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450753" y="663036"/>
            <a:ext cx="3122573" cy="5219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spc="400" dirty="0">
                <a:solidFill>
                  <a:srgbClr val="3B476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选题背景与意义</a:t>
            </a:r>
            <a:endParaRPr lang="zh-CN" altLang="en-US" sz="2800" spc="400" dirty="0">
              <a:solidFill>
                <a:srgbClr val="3B476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-85193" y="683915"/>
            <a:ext cx="525979" cy="355592"/>
          </a:xfrm>
          <a:prstGeom prst="triangle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30522" y="1561381"/>
            <a:ext cx="0" cy="4658264"/>
          </a:xfrm>
          <a:prstGeom prst="line">
            <a:avLst/>
          </a:prstGeom>
          <a:ln>
            <a:solidFill>
              <a:srgbClr val="3B4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260215" y="1479550"/>
            <a:ext cx="5034280" cy="965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R" panose="00020600040101010101" pitchFamily="18" charset="-122"/>
              </a:rPr>
              <a:t>随着电子商务高速发展，物流行业面临订单量激增、作业节奏加快的压力。传统人工分拣方式效率低、误差率高，且受人员经验与疲劳因素影响，难以满足现代物流对高效、精准分拣的需求。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R" panose="00020600040101010101" pitchFamily="18" charset="-122"/>
            </a:endParaRPr>
          </a:p>
        </p:txBody>
      </p:sp>
      <p:sp>
        <p:nvSpPr>
          <p:cNvPr id="24" name="AutoShape 87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846807" y="3245331"/>
            <a:ext cx="340745" cy="34147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rgbClr val="83A09E"/>
          </a:solidFill>
          <a:ln>
            <a:noFill/>
          </a:ln>
          <a:effectLst/>
        </p:spPr>
        <p:txBody>
          <a:bodyPr lIns="101579" tIns="101579" rIns="101579" bIns="101579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endParaRPr lang="es-ES" sz="6665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Noto Sans S Chinese" panose="020F0502020204030204"/>
            </a:endParaRPr>
          </a:p>
        </p:txBody>
      </p:sp>
      <p:sp>
        <p:nvSpPr>
          <p:cNvPr id="22" name="Freeform 10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847234" y="1610429"/>
            <a:ext cx="355346" cy="366656"/>
          </a:xfrm>
          <a:custGeom>
            <a:avLst/>
            <a:gdLst>
              <a:gd name="T0" fmla="*/ 40 w 7790"/>
              <a:gd name="T1" fmla="*/ 0 h 8036"/>
              <a:gd name="T2" fmla="*/ 3458 w 7790"/>
              <a:gd name="T3" fmla="*/ 0 h 8036"/>
              <a:gd name="T4" fmla="*/ 3458 w 7790"/>
              <a:gd name="T5" fmla="*/ 3418 h 8036"/>
              <a:gd name="T6" fmla="*/ 40 w 7790"/>
              <a:gd name="T7" fmla="*/ 3418 h 8036"/>
              <a:gd name="T8" fmla="*/ 40 w 7790"/>
              <a:gd name="T9" fmla="*/ 0 h 8036"/>
              <a:gd name="T10" fmla="*/ 7790 w 7790"/>
              <a:gd name="T11" fmla="*/ 1695 h 8036"/>
              <a:gd name="T12" fmla="*/ 6170 w 7790"/>
              <a:gd name="T13" fmla="*/ 103 h 8036"/>
              <a:gd name="T14" fmla="*/ 4577 w 7790"/>
              <a:gd name="T15" fmla="*/ 1723 h 8036"/>
              <a:gd name="T16" fmla="*/ 6198 w 7790"/>
              <a:gd name="T17" fmla="*/ 3316 h 8036"/>
              <a:gd name="T18" fmla="*/ 7790 w 7790"/>
              <a:gd name="T19" fmla="*/ 1695 h 8036"/>
              <a:gd name="T20" fmla="*/ 0 w 7790"/>
              <a:gd name="T21" fmla="*/ 4618 h 8036"/>
              <a:gd name="T22" fmla="*/ 3417 w 7790"/>
              <a:gd name="T23" fmla="*/ 4618 h 8036"/>
              <a:gd name="T24" fmla="*/ 3417 w 7790"/>
              <a:gd name="T25" fmla="*/ 8036 h 8036"/>
              <a:gd name="T26" fmla="*/ 0 w 7790"/>
              <a:gd name="T27" fmla="*/ 8036 h 8036"/>
              <a:gd name="T28" fmla="*/ 0 w 7790"/>
              <a:gd name="T29" fmla="*/ 4618 h 8036"/>
              <a:gd name="T30" fmla="*/ 4353 w 7790"/>
              <a:gd name="T31" fmla="*/ 4618 h 8036"/>
              <a:gd name="T32" fmla="*/ 7770 w 7790"/>
              <a:gd name="T33" fmla="*/ 4618 h 8036"/>
              <a:gd name="T34" fmla="*/ 7770 w 7790"/>
              <a:gd name="T35" fmla="*/ 8036 h 8036"/>
              <a:gd name="T36" fmla="*/ 4353 w 7790"/>
              <a:gd name="T37" fmla="*/ 8036 h 8036"/>
              <a:gd name="T38" fmla="*/ 4353 w 7790"/>
              <a:gd name="T39" fmla="*/ 4618 h 8036"/>
              <a:gd name="T40" fmla="*/ 4353 w 7790"/>
              <a:gd name="T41" fmla="*/ 4618 h 8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790" h="8036">
                <a:moveTo>
                  <a:pt x="40" y="0"/>
                </a:moveTo>
                <a:lnTo>
                  <a:pt x="3458" y="0"/>
                </a:lnTo>
                <a:lnTo>
                  <a:pt x="3458" y="3418"/>
                </a:lnTo>
                <a:lnTo>
                  <a:pt x="40" y="3418"/>
                </a:lnTo>
                <a:lnTo>
                  <a:pt x="40" y="0"/>
                </a:lnTo>
                <a:close/>
                <a:moveTo>
                  <a:pt x="7790" y="1695"/>
                </a:moveTo>
                <a:lnTo>
                  <a:pt x="6170" y="103"/>
                </a:lnTo>
                <a:lnTo>
                  <a:pt x="4577" y="1723"/>
                </a:lnTo>
                <a:lnTo>
                  <a:pt x="6198" y="3316"/>
                </a:lnTo>
                <a:lnTo>
                  <a:pt x="7790" y="1695"/>
                </a:lnTo>
                <a:close/>
                <a:moveTo>
                  <a:pt x="0" y="4618"/>
                </a:moveTo>
                <a:lnTo>
                  <a:pt x="3417" y="4618"/>
                </a:lnTo>
                <a:lnTo>
                  <a:pt x="3417" y="8036"/>
                </a:lnTo>
                <a:lnTo>
                  <a:pt x="0" y="8036"/>
                </a:lnTo>
                <a:lnTo>
                  <a:pt x="0" y="4618"/>
                </a:lnTo>
                <a:close/>
                <a:moveTo>
                  <a:pt x="4353" y="4618"/>
                </a:moveTo>
                <a:lnTo>
                  <a:pt x="7770" y="4618"/>
                </a:lnTo>
                <a:lnTo>
                  <a:pt x="7770" y="8036"/>
                </a:lnTo>
                <a:lnTo>
                  <a:pt x="4353" y="8036"/>
                </a:lnTo>
                <a:lnTo>
                  <a:pt x="4353" y="4618"/>
                </a:lnTo>
                <a:close/>
                <a:moveTo>
                  <a:pt x="4353" y="4618"/>
                </a:moveTo>
                <a:close/>
              </a:path>
            </a:pathLst>
          </a:custGeom>
          <a:solidFill>
            <a:srgbClr val="83A09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Noto Sans S Chinese" panose="020F0502020204030204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4324350" y="3120390"/>
            <a:ext cx="4869815" cy="1157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R" panose="00020600040101010101" pitchFamily="18" charset="-122"/>
              </a:rPr>
              <a:t>自动分拣系统依托信息识别、实时控制与机电协同技术，可大幅提升包裹处理效率。二维码作为低成本、高稳定性的信息载体，为分拣系统提供了可靠的数据入口。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R" panose="00020600040101010101" pitchFamily="18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4374515" y="4857750"/>
            <a:ext cx="4819650" cy="888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R" panose="00020600040101010101" pitchFamily="18" charset="-122"/>
              </a:rPr>
              <a:t>国内研究注重低成本、易部署的轻量化分拣方案。本设计通过模块化硬件与3D打印结构，降低制造成本与迭代难度，为中小型物流场景提供可扩展的技术支持。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R" panose="00020600040101010101" pitchFamily="18" charset="-122"/>
            </a:endParaRPr>
          </a:p>
        </p:txBody>
      </p:sp>
      <p:grpSp>
        <p:nvGrpSpPr>
          <p:cNvPr id="25" name="Group 18"/>
          <p:cNvGrpSpPr/>
          <p:nvPr>
            <p:custDataLst>
              <p:tags r:id="rId7"/>
            </p:custDataLst>
          </p:nvPr>
        </p:nvGrpSpPr>
        <p:grpSpPr>
          <a:xfrm>
            <a:off x="855719" y="4913031"/>
            <a:ext cx="346525" cy="328743"/>
            <a:chOff x="4667572" y="3109187"/>
            <a:chExt cx="717092" cy="680273"/>
          </a:xfrm>
          <a:solidFill>
            <a:srgbClr val="83A09E"/>
          </a:solidFill>
        </p:grpSpPr>
        <p:cxnSp>
          <p:nvCxnSpPr>
            <p:cNvPr id="26" name="直接连接符 25"/>
            <p:cNvCxnSpPr/>
            <p:nvPr>
              <p:custDataLst>
                <p:tags r:id="rId8"/>
              </p:custDataLst>
            </p:nvPr>
          </p:nvCxnSpPr>
          <p:spPr>
            <a:xfrm flipV="1">
              <a:off x="4881906" y="3109187"/>
              <a:ext cx="288424" cy="6299"/>
            </a:xfrm>
            <a:prstGeom prst="line">
              <a:avLst/>
            </a:prstGeom>
            <a:grpFill/>
            <a:ln w="603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任意多边形 22"/>
            <p:cNvSpPr/>
            <p:nvPr>
              <p:custDataLst>
                <p:tags r:id="rId9"/>
              </p:custDataLst>
            </p:nvPr>
          </p:nvSpPr>
          <p:spPr>
            <a:xfrm>
              <a:off x="4667572" y="3121703"/>
              <a:ext cx="717092" cy="667757"/>
            </a:xfrm>
            <a:custGeom>
              <a:avLst/>
              <a:gdLst>
                <a:gd name="T0" fmla="*/ 8052 w 11204"/>
                <a:gd name="T1" fmla="*/ 701 h 10433"/>
                <a:gd name="T2" fmla="*/ 7702 w 11204"/>
                <a:gd name="T3" fmla="*/ 6 h 10433"/>
                <a:gd name="T4" fmla="*/ 7352 w 11204"/>
                <a:gd name="T5" fmla="*/ 701 h 10433"/>
                <a:gd name="T6" fmla="*/ 3854 w 11204"/>
                <a:gd name="T7" fmla="*/ 353 h 10433"/>
                <a:gd name="T8" fmla="*/ 3504 w 11204"/>
                <a:gd name="T9" fmla="*/ 6 h 10433"/>
                <a:gd name="T10" fmla="*/ 3154 w 11204"/>
                <a:gd name="T11" fmla="*/ 353 h 10433"/>
                <a:gd name="T12" fmla="*/ 1755 w 11204"/>
                <a:gd name="T13" fmla="*/ 701 h 10433"/>
                <a:gd name="T14" fmla="*/ 5 w 11204"/>
                <a:gd name="T15" fmla="*/ 2438 h 10433"/>
                <a:gd name="T16" fmla="*/ 513 w 11204"/>
                <a:gd name="T17" fmla="*/ 9925 h 10433"/>
                <a:gd name="T18" fmla="*/ 9450 w 11204"/>
                <a:gd name="T19" fmla="*/ 10428 h 10433"/>
                <a:gd name="T20" fmla="*/ 11200 w 11204"/>
                <a:gd name="T21" fmla="*/ 8691 h 10433"/>
                <a:gd name="T22" fmla="*/ 10693 w 11204"/>
                <a:gd name="T23" fmla="*/ 1205 h 10433"/>
                <a:gd name="T24" fmla="*/ 707 w 11204"/>
                <a:gd name="T25" fmla="*/ 2438 h 10433"/>
                <a:gd name="T26" fmla="*/ 3155 w 11204"/>
                <a:gd name="T27" fmla="*/ 1396 h 10433"/>
                <a:gd name="T28" fmla="*/ 3252 w 11204"/>
                <a:gd name="T29" fmla="*/ 1996 h 10433"/>
                <a:gd name="T30" fmla="*/ 3759 w 11204"/>
                <a:gd name="T31" fmla="*/ 1996 h 10433"/>
                <a:gd name="T32" fmla="*/ 3855 w 11204"/>
                <a:gd name="T33" fmla="*/ 1396 h 10433"/>
                <a:gd name="T34" fmla="*/ 7353 w 11204"/>
                <a:gd name="T35" fmla="*/ 1743 h 10433"/>
                <a:gd name="T36" fmla="*/ 7950 w 11204"/>
                <a:gd name="T37" fmla="*/ 1990 h 10433"/>
                <a:gd name="T38" fmla="*/ 8053 w 11204"/>
                <a:gd name="T39" fmla="*/ 1396 h 10433"/>
                <a:gd name="T40" fmla="*/ 10500 w 11204"/>
                <a:gd name="T41" fmla="*/ 2438 h 10433"/>
                <a:gd name="T42" fmla="*/ 707 w 11204"/>
                <a:gd name="T43" fmla="*/ 3480 h 10433"/>
                <a:gd name="T44" fmla="*/ 10499 w 11204"/>
                <a:gd name="T45" fmla="*/ 8691 h 10433"/>
                <a:gd name="T46" fmla="*/ 1757 w 11204"/>
                <a:gd name="T47" fmla="*/ 9733 h 10433"/>
                <a:gd name="T48" fmla="*/ 707 w 11204"/>
                <a:gd name="T49" fmla="*/ 4175 h 10433"/>
                <a:gd name="T50" fmla="*/ 10499 w 11204"/>
                <a:gd name="T51" fmla="*/ 8691 h 10433"/>
                <a:gd name="T52" fmla="*/ 2504 w 11204"/>
                <a:gd name="T53" fmla="*/ 8691 h 10433"/>
                <a:gd name="T54" fmla="*/ 3202 w 11204"/>
                <a:gd name="T55" fmla="*/ 7996 h 10433"/>
                <a:gd name="T56" fmla="*/ 2502 w 11204"/>
                <a:gd name="T57" fmla="*/ 7301 h 10433"/>
                <a:gd name="T58" fmla="*/ 1802 w 11204"/>
                <a:gd name="T59" fmla="*/ 7996 h 10433"/>
                <a:gd name="T60" fmla="*/ 2504 w 11204"/>
                <a:gd name="T61" fmla="*/ 8691 h 10433"/>
                <a:gd name="T62" fmla="*/ 2991 w 11204"/>
                <a:gd name="T63" fmla="*/ 6398 h 10433"/>
                <a:gd name="T64" fmla="*/ 2991 w 11204"/>
                <a:gd name="T65" fmla="*/ 5426 h 10433"/>
                <a:gd name="T66" fmla="*/ 2012 w 11204"/>
                <a:gd name="T67" fmla="*/ 5426 h 10433"/>
                <a:gd name="T68" fmla="*/ 2012 w 11204"/>
                <a:gd name="T69" fmla="*/ 6398 h 10433"/>
                <a:gd name="T70" fmla="*/ 5646 w 11204"/>
                <a:gd name="T71" fmla="*/ 8691 h 10433"/>
                <a:gd name="T72" fmla="*/ 6136 w 11204"/>
                <a:gd name="T73" fmla="*/ 7510 h 10433"/>
                <a:gd name="T74" fmla="*/ 5156 w 11204"/>
                <a:gd name="T75" fmla="*/ 7510 h 10433"/>
                <a:gd name="T76" fmla="*/ 5156 w 11204"/>
                <a:gd name="T77" fmla="*/ 8482 h 10433"/>
                <a:gd name="T78" fmla="*/ 5646 w 11204"/>
                <a:gd name="T79" fmla="*/ 6606 h 10433"/>
                <a:gd name="T80" fmla="*/ 6139 w 11204"/>
                <a:gd name="T81" fmla="*/ 5426 h 10433"/>
                <a:gd name="T82" fmla="*/ 5159 w 11204"/>
                <a:gd name="T83" fmla="*/ 5426 h 10433"/>
                <a:gd name="T84" fmla="*/ 5154 w 11204"/>
                <a:gd name="T85" fmla="*/ 6398 h 10433"/>
                <a:gd name="T86" fmla="*/ 8630 w 11204"/>
                <a:gd name="T87" fmla="*/ 8691 h 10433"/>
                <a:gd name="T88" fmla="*/ 9330 w 11204"/>
                <a:gd name="T89" fmla="*/ 7996 h 10433"/>
                <a:gd name="T90" fmla="*/ 8630 w 11204"/>
                <a:gd name="T91" fmla="*/ 7301 h 10433"/>
                <a:gd name="T92" fmla="*/ 7930 w 11204"/>
                <a:gd name="T93" fmla="*/ 7996 h 10433"/>
                <a:gd name="T94" fmla="*/ 8630 w 11204"/>
                <a:gd name="T95" fmla="*/ 8691 h 10433"/>
                <a:gd name="T96" fmla="*/ 9329 w 11204"/>
                <a:gd name="T97" fmla="*/ 5912 h 10433"/>
                <a:gd name="T98" fmla="*/ 8629 w 11204"/>
                <a:gd name="T99" fmla="*/ 5217 h 10433"/>
                <a:gd name="T100" fmla="*/ 7929 w 11204"/>
                <a:gd name="T101" fmla="*/ 5912 h 10433"/>
                <a:gd name="T102" fmla="*/ 8630 w 11204"/>
                <a:gd name="T103" fmla="*/ 6606 h 10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204" h="10433">
                  <a:moveTo>
                    <a:pt x="9450" y="701"/>
                  </a:moveTo>
                  <a:lnTo>
                    <a:pt x="8052" y="701"/>
                  </a:lnTo>
                  <a:lnTo>
                    <a:pt x="8052" y="353"/>
                  </a:lnTo>
                  <a:cubicBezTo>
                    <a:pt x="8052" y="161"/>
                    <a:pt x="7895" y="6"/>
                    <a:pt x="7702" y="6"/>
                  </a:cubicBezTo>
                  <a:cubicBezTo>
                    <a:pt x="7509" y="6"/>
                    <a:pt x="7353" y="161"/>
                    <a:pt x="7352" y="353"/>
                  </a:cubicBezTo>
                  <a:lnTo>
                    <a:pt x="7352" y="701"/>
                  </a:lnTo>
                  <a:lnTo>
                    <a:pt x="3854" y="701"/>
                  </a:lnTo>
                  <a:lnTo>
                    <a:pt x="3854" y="353"/>
                  </a:lnTo>
                  <a:cubicBezTo>
                    <a:pt x="3860" y="260"/>
                    <a:pt x="3825" y="167"/>
                    <a:pt x="3758" y="101"/>
                  </a:cubicBezTo>
                  <a:cubicBezTo>
                    <a:pt x="3690" y="35"/>
                    <a:pt x="3598" y="0"/>
                    <a:pt x="3504" y="6"/>
                  </a:cubicBezTo>
                  <a:cubicBezTo>
                    <a:pt x="3410" y="0"/>
                    <a:pt x="3318" y="35"/>
                    <a:pt x="3250" y="101"/>
                  </a:cubicBezTo>
                  <a:cubicBezTo>
                    <a:pt x="3184" y="167"/>
                    <a:pt x="3149" y="260"/>
                    <a:pt x="3154" y="353"/>
                  </a:cubicBezTo>
                  <a:lnTo>
                    <a:pt x="3154" y="701"/>
                  </a:lnTo>
                  <a:lnTo>
                    <a:pt x="1755" y="701"/>
                  </a:lnTo>
                  <a:cubicBezTo>
                    <a:pt x="1290" y="696"/>
                    <a:pt x="843" y="877"/>
                    <a:pt x="513" y="1205"/>
                  </a:cubicBezTo>
                  <a:cubicBezTo>
                    <a:pt x="184" y="1531"/>
                    <a:pt x="2" y="1975"/>
                    <a:pt x="5" y="2438"/>
                  </a:cubicBezTo>
                  <a:lnTo>
                    <a:pt x="5" y="8691"/>
                  </a:lnTo>
                  <a:cubicBezTo>
                    <a:pt x="0" y="9153"/>
                    <a:pt x="184" y="9598"/>
                    <a:pt x="513" y="9925"/>
                  </a:cubicBezTo>
                  <a:cubicBezTo>
                    <a:pt x="843" y="10252"/>
                    <a:pt x="1290" y="10433"/>
                    <a:pt x="1755" y="10428"/>
                  </a:cubicBezTo>
                  <a:lnTo>
                    <a:pt x="9450" y="10428"/>
                  </a:lnTo>
                  <a:cubicBezTo>
                    <a:pt x="9915" y="10433"/>
                    <a:pt x="10363" y="10252"/>
                    <a:pt x="10693" y="9925"/>
                  </a:cubicBezTo>
                  <a:cubicBezTo>
                    <a:pt x="11022" y="9598"/>
                    <a:pt x="11204" y="9155"/>
                    <a:pt x="11200" y="8691"/>
                  </a:cubicBezTo>
                  <a:lnTo>
                    <a:pt x="11200" y="2438"/>
                  </a:lnTo>
                  <a:cubicBezTo>
                    <a:pt x="11204" y="1976"/>
                    <a:pt x="11022" y="1531"/>
                    <a:pt x="10693" y="1205"/>
                  </a:cubicBezTo>
                  <a:cubicBezTo>
                    <a:pt x="10362" y="878"/>
                    <a:pt x="9915" y="697"/>
                    <a:pt x="9450" y="701"/>
                  </a:cubicBezTo>
                  <a:close/>
                  <a:moveTo>
                    <a:pt x="707" y="2438"/>
                  </a:moveTo>
                  <a:cubicBezTo>
                    <a:pt x="720" y="1868"/>
                    <a:pt x="1183" y="1410"/>
                    <a:pt x="1757" y="1396"/>
                  </a:cubicBezTo>
                  <a:lnTo>
                    <a:pt x="3155" y="1396"/>
                  </a:lnTo>
                  <a:lnTo>
                    <a:pt x="3155" y="1743"/>
                  </a:lnTo>
                  <a:cubicBezTo>
                    <a:pt x="3149" y="1837"/>
                    <a:pt x="3184" y="1930"/>
                    <a:pt x="3252" y="1996"/>
                  </a:cubicBezTo>
                  <a:cubicBezTo>
                    <a:pt x="3319" y="2062"/>
                    <a:pt x="3410" y="2097"/>
                    <a:pt x="3505" y="2091"/>
                  </a:cubicBezTo>
                  <a:cubicBezTo>
                    <a:pt x="3599" y="2097"/>
                    <a:pt x="3692" y="2062"/>
                    <a:pt x="3759" y="1996"/>
                  </a:cubicBezTo>
                  <a:cubicBezTo>
                    <a:pt x="3827" y="1930"/>
                    <a:pt x="3862" y="1837"/>
                    <a:pt x="3855" y="1743"/>
                  </a:cubicBezTo>
                  <a:lnTo>
                    <a:pt x="3855" y="1396"/>
                  </a:lnTo>
                  <a:lnTo>
                    <a:pt x="7353" y="1396"/>
                  </a:lnTo>
                  <a:lnTo>
                    <a:pt x="7353" y="1743"/>
                  </a:lnTo>
                  <a:cubicBezTo>
                    <a:pt x="7353" y="1936"/>
                    <a:pt x="7509" y="2091"/>
                    <a:pt x="7703" y="2091"/>
                  </a:cubicBezTo>
                  <a:cubicBezTo>
                    <a:pt x="7795" y="2091"/>
                    <a:pt x="7884" y="2055"/>
                    <a:pt x="7950" y="1990"/>
                  </a:cubicBezTo>
                  <a:cubicBezTo>
                    <a:pt x="8015" y="1925"/>
                    <a:pt x="8053" y="1836"/>
                    <a:pt x="8053" y="1743"/>
                  </a:cubicBezTo>
                  <a:lnTo>
                    <a:pt x="8053" y="1396"/>
                  </a:lnTo>
                  <a:lnTo>
                    <a:pt x="9452" y="1396"/>
                  </a:lnTo>
                  <a:cubicBezTo>
                    <a:pt x="10025" y="1410"/>
                    <a:pt x="10486" y="1868"/>
                    <a:pt x="10500" y="2438"/>
                  </a:cubicBezTo>
                  <a:lnTo>
                    <a:pt x="10500" y="3480"/>
                  </a:lnTo>
                  <a:lnTo>
                    <a:pt x="707" y="3480"/>
                  </a:lnTo>
                  <a:lnTo>
                    <a:pt x="707" y="2438"/>
                  </a:lnTo>
                  <a:close/>
                  <a:moveTo>
                    <a:pt x="10499" y="8691"/>
                  </a:moveTo>
                  <a:cubicBezTo>
                    <a:pt x="10485" y="9261"/>
                    <a:pt x="10023" y="9718"/>
                    <a:pt x="9450" y="9733"/>
                  </a:cubicBezTo>
                  <a:lnTo>
                    <a:pt x="1757" y="9733"/>
                  </a:lnTo>
                  <a:cubicBezTo>
                    <a:pt x="1183" y="9720"/>
                    <a:pt x="720" y="9261"/>
                    <a:pt x="707" y="8691"/>
                  </a:cubicBezTo>
                  <a:lnTo>
                    <a:pt x="707" y="4175"/>
                  </a:lnTo>
                  <a:lnTo>
                    <a:pt x="10500" y="4175"/>
                  </a:lnTo>
                  <a:lnTo>
                    <a:pt x="10499" y="8691"/>
                  </a:lnTo>
                  <a:close/>
                  <a:moveTo>
                    <a:pt x="10499" y="8691"/>
                  </a:moveTo>
                  <a:close/>
                  <a:moveTo>
                    <a:pt x="2504" y="8691"/>
                  </a:moveTo>
                  <a:cubicBezTo>
                    <a:pt x="2689" y="8696"/>
                    <a:pt x="2868" y="8620"/>
                    <a:pt x="2991" y="8482"/>
                  </a:cubicBezTo>
                  <a:cubicBezTo>
                    <a:pt x="3125" y="8356"/>
                    <a:pt x="3202" y="8179"/>
                    <a:pt x="3202" y="7996"/>
                  </a:cubicBezTo>
                  <a:cubicBezTo>
                    <a:pt x="3202" y="7812"/>
                    <a:pt x="3125" y="7636"/>
                    <a:pt x="2991" y="7510"/>
                  </a:cubicBezTo>
                  <a:cubicBezTo>
                    <a:pt x="2864" y="7376"/>
                    <a:pt x="2687" y="7301"/>
                    <a:pt x="2502" y="7301"/>
                  </a:cubicBezTo>
                  <a:cubicBezTo>
                    <a:pt x="2316" y="7301"/>
                    <a:pt x="2140" y="7376"/>
                    <a:pt x="2012" y="7510"/>
                  </a:cubicBezTo>
                  <a:cubicBezTo>
                    <a:pt x="1878" y="7636"/>
                    <a:pt x="1802" y="7812"/>
                    <a:pt x="1802" y="7996"/>
                  </a:cubicBezTo>
                  <a:cubicBezTo>
                    <a:pt x="1802" y="8179"/>
                    <a:pt x="1878" y="8356"/>
                    <a:pt x="2012" y="8482"/>
                  </a:cubicBezTo>
                  <a:cubicBezTo>
                    <a:pt x="2137" y="8621"/>
                    <a:pt x="2317" y="8697"/>
                    <a:pt x="2504" y="8691"/>
                  </a:cubicBezTo>
                  <a:close/>
                  <a:moveTo>
                    <a:pt x="2504" y="6606"/>
                  </a:moveTo>
                  <a:cubicBezTo>
                    <a:pt x="2689" y="6611"/>
                    <a:pt x="2868" y="6535"/>
                    <a:pt x="2991" y="6398"/>
                  </a:cubicBezTo>
                  <a:cubicBezTo>
                    <a:pt x="3118" y="6267"/>
                    <a:pt x="3193" y="6095"/>
                    <a:pt x="3202" y="5912"/>
                  </a:cubicBezTo>
                  <a:cubicBezTo>
                    <a:pt x="3194" y="5730"/>
                    <a:pt x="3119" y="5557"/>
                    <a:pt x="2991" y="5426"/>
                  </a:cubicBezTo>
                  <a:cubicBezTo>
                    <a:pt x="2864" y="5292"/>
                    <a:pt x="2687" y="5217"/>
                    <a:pt x="2502" y="5217"/>
                  </a:cubicBezTo>
                  <a:cubicBezTo>
                    <a:pt x="2316" y="5217"/>
                    <a:pt x="2139" y="5292"/>
                    <a:pt x="2012" y="5426"/>
                  </a:cubicBezTo>
                  <a:cubicBezTo>
                    <a:pt x="1885" y="5557"/>
                    <a:pt x="1810" y="5730"/>
                    <a:pt x="1802" y="5912"/>
                  </a:cubicBezTo>
                  <a:cubicBezTo>
                    <a:pt x="1810" y="6095"/>
                    <a:pt x="1884" y="6267"/>
                    <a:pt x="2012" y="6398"/>
                  </a:cubicBezTo>
                  <a:cubicBezTo>
                    <a:pt x="2137" y="6536"/>
                    <a:pt x="2317" y="6612"/>
                    <a:pt x="2504" y="6606"/>
                  </a:cubicBezTo>
                  <a:close/>
                  <a:moveTo>
                    <a:pt x="5646" y="8691"/>
                  </a:moveTo>
                  <a:cubicBezTo>
                    <a:pt x="5929" y="8695"/>
                    <a:pt x="6185" y="8526"/>
                    <a:pt x="6294" y="8265"/>
                  </a:cubicBezTo>
                  <a:cubicBezTo>
                    <a:pt x="6401" y="8005"/>
                    <a:pt x="6339" y="7705"/>
                    <a:pt x="6136" y="7510"/>
                  </a:cubicBezTo>
                  <a:cubicBezTo>
                    <a:pt x="6009" y="7376"/>
                    <a:pt x="5831" y="7301"/>
                    <a:pt x="5646" y="7301"/>
                  </a:cubicBezTo>
                  <a:cubicBezTo>
                    <a:pt x="5461" y="7301"/>
                    <a:pt x="5284" y="7376"/>
                    <a:pt x="5156" y="7510"/>
                  </a:cubicBezTo>
                  <a:cubicBezTo>
                    <a:pt x="5023" y="7636"/>
                    <a:pt x="4946" y="7812"/>
                    <a:pt x="4946" y="7996"/>
                  </a:cubicBezTo>
                  <a:cubicBezTo>
                    <a:pt x="4946" y="8179"/>
                    <a:pt x="5023" y="8356"/>
                    <a:pt x="5156" y="8482"/>
                  </a:cubicBezTo>
                  <a:cubicBezTo>
                    <a:pt x="5281" y="8621"/>
                    <a:pt x="5461" y="8696"/>
                    <a:pt x="5646" y="8691"/>
                  </a:cubicBezTo>
                  <a:close/>
                  <a:moveTo>
                    <a:pt x="5646" y="6606"/>
                  </a:moveTo>
                  <a:cubicBezTo>
                    <a:pt x="6030" y="6598"/>
                    <a:pt x="6339" y="6292"/>
                    <a:pt x="6349" y="5912"/>
                  </a:cubicBezTo>
                  <a:cubicBezTo>
                    <a:pt x="6340" y="5730"/>
                    <a:pt x="6267" y="5557"/>
                    <a:pt x="6139" y="5426"/>
                  </a:cubicBezTo>
                  <a:cubicBezTo>
                    <a:pt x="6012" y="5292"/>
                    <a:pt x="5834" y="5217"/>
                    <a:pt x="5649" y="5217"/>
                  </a:cubicBezTo>
                  <a:cubicBezTo>
                    <a:pt x="5464" y="5217"/>
                    <a:pt x="5288" y="5292"/>
                    <a:pt x="5159" y="5426"/>
                  </a:cubicBezTo>
                  <a:cubicBezTo>
                    <a:pt x="5032" y="5557"/>
                    <a:pt x="4958" y="5730"/>
                    <a:pt x="4949" y="5912"/>
                  </a:cubicBezTo>
                  <a:cubicBezTo>
                    <a:pt x="4957" y="6093"/>
                    <a:pt x="5029" y="6266"/>
                    <a:pt x="5154" y="6398"/>
                  </a:cubicBezTo>
                  <a:cubicBezTo>
                    <a:pt x="5280" y="6536"/>
                    <a:pt x="5460" y="6612"/>
                    <a:pt x="5646" y="6606"/>
                  </a:cubicBezTo>
                  <a:close/>
                  <a:moveTo>
                    <a:pt x="8630" y="8691"/>
                  </a:moveTo>
                  <a:cubicBezTo>
                    <a:pt x="8817" y="8696"/>
                    <a:pt x="8995" y="8620"/>
                    <a:pt x="9120" y="8482"/>
                  </a:cubicBezTo>
                  <a:cubicBezTo>
                    <a:pt x="9254" y="8356"/>
                    <a:pt x="9330" y="8179"/>
                    <a:pt x="9330" y="7996"/>
                  </a:cubicBezTo>
                  <a:cubicBezTo>
                    <a:pt x="9330" y="7812"/>
                    <a:pt x="9254" y="7636"/>
                    <a:pt x="9120" y="7510"/>
                  </a:cubicBezTo>
                  <a:cubicBezTo>
                    <a:pt x="8993" y="7376"/>
                    <a:pt x="8815" y="7301"/>
                    <a:pt x="8630" y="7301"/>
                  </a:cubicBezTo>
                  <a:cubicBezTo>
                    <a:pt x="8445" y="7301"/>
                    <a:pt x="8268" y="7376"/>
                    <a:pt x="8140" y="7510"/>
                  </a:cubicBezTo>
                  <a:cubicBezTo>
                    <a:pt x="8003" y="7633"/>
                    <a:pt x="7925" y="7811"/>
                    <a:pt x="7930" y="7996"/>
                  </a:cubicBezTo>
                  <a:cubicBezTo>
                    <a:pt x="7939" y="8178"/>
                    <a:pt x="8013" y="8351"/>
                    <a:pt x="8140" y="8482"/>
                  </a:cubicBezTo>
                  <a:cubicBezTo>
                    <a:pt x="8265" y="8620"/>
                    <a:pt x="8444" y="8696"/>
                    <a:pt x="8630" y="8691"/>
                  </a:cubicBezTo>
                  <a:close/>
                  <a:moveTo>
                    <a:pt x="8630" y="6606"/>
                  </a:moveTo>
                  <a:cubicBezTo>
                    <a:pt x="9013" y="6597"/>
                    <a:pt x="9320" y="6291"/>
                    <a:pt x="9329" y="5912"/>
                  </a:cubicBezTo>
                  <a:cubicBezTo>
                    <a:pt x="9320" y="5730"/>
                    <a:pt x="9247" y="5557"/>
                    <a:pt x="9119" y="5426"/>
                  </a:cubicBezTo>
                  <a:cubicBezTo>
                    <a:pt x="8992" y="5292"/>
                    <a:pt x="8814" y="5217"/>
                    <a:pt x="8629" y="5217"/>
                  </a:cubicBezTo>
                  <a:cubicBezTo>
                    <a:pt x="8444" y="5217"/>
                    <a:pt x="8267" y="5292"/>
                    <a:pt x="8139" y="5426"/>
                  </a:cubicBezTo>
                  <a:cubicBezTo>
                    <a:pt x="8013" y="5557"/>
                    <a:pt x="7938" y="5730"/>
                    <a:pt x="7929" y="5912"/>
                  </a:cubicBezTo>
                  <a:cubicBezTo>
                    <a:pt x="7938" y="6095"/>
                    <a:pt x="8012" y="6267"/>
                    <a:pt x="8139" y="6398"/>
                  </a:cubicBezTo>
                  <a:cubicBezTo>
                    <a:pt x="8265" y="6536"/>
                    <a:pt x="8444" y="6612"/>
                    <a:pt x="8630" y="6606"/>
                  </a:cubicBezTo>
                  <a:close/>
                  <a:moveTo>
                    <a:pt x="8630" y="6606"/>
                  </a:move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386205" y="1610360"/>
            <a:ext cx="2798445" cy="704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 dirty="0">
                <a:solidFill>
                  <a:srgbClr val="0070C0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ea"/>
              </a:rPr>
              <a:t>一、电商发展驱动升级</a:t>
            </a:r>
            <a:r>
              <a:rPr lang="en-US" altLang="zh-CN" b="1" dirty="0">
                <a:solidFill>
                  <a:srgbClr val="0070C0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ea"/>
              </a:rPr>
              <a:t>​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449705" y="3329940"/>
            <a:ext cx="2810510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 dirty="0">
                <a:solidFill>
                  <a:srgbClr val="0070C0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二、技术应用优化流程</a:t>
            </a:r>
            <a:endParaRPr lang="zh-CN" altLang="en-US" b="1" dirty="0">
              <a:solidFill>
                <a:srgbClr val="0070C0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49705" y="4972685"/>
            <a:ext cx="2600325" cy="657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0070C0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三、方案契合本土需求</a:t>
            </a:r>
            <a:endParaRPr lang="zh-CN" altLang="en-US" b="1" dirty="0">
              <a:solidFill>
                <a:srgbClr val="0070C0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568" y="1"/>
            <a:ext cx="12198568" cy="475454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6568" y="6181344"/>
            <a:ext cx="12198568" cy="676656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5" name="圆角矩形 7"/>
          <p:cNvSpPr/>
          <p:nvPr/>
        </p:nvSpPr>
        <p:spPr>
          <a:xfrm>
            <a:off x="3381556" y="302318"/>
            <a:ext cx="5080958" cy="48190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"/>
          <p:cNvSpPr/>
          <p:nvPr/>
        </p:nvSpPr>
        <p:spPr>
          <a:xfrm>
            <a:off x="3449432" y="2774004"/>
            <a:ext cx="930387" cy="930387"/>
          </a:xfrm>
          <a:prstGeom prst="round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503739" y="2732397"/>
            <a:ext cx="1147759" cy="849592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1"/>
                  <a:srcRect/>
                  <a:stretch>
                    <a:fillRect/>
                  </a:stretch>
                </a:blip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3600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03</a:t>
            </a:r>
            <a:endParaRPr lang="en-US" altLang="zh-CN" sz="3600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651498" y="2885254"/>
            <a:ext cx="4404430" cy="7067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40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</a:t>
            </a:r>
            <a:r>
              <a:rPr lang="zh-CN" altLang="en-US" sz="40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研究内容</a:t>
            </a:r>
            <a:r>
              <a:rPr lang="zh-CN" altLang="en-US" sz="40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与目的</a:t>
            </a:r>
            <a:endParaRPr lang="zh-CN" altLang="en-US" sz="4000" spc="4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651498" y="3667815"/>
            <a:ext cx="5342894" cy="0"/>
          </a:xfrm>
          <a:prstGeom prst="line">
            <a:avLst/>
          </a:prstGeom>
          <a:ln>
            <a:solidFill>
              <a:srgbClr val="3B4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1360805" y="1897380"/>
            <a:ext cx="2186940" cy="2179320"/>
          </a:xfrm>
          <a:prstGeom prst="ellipse">
            <a:avLst/>
          </a:prstGeom>
          <a:solidFill>
            <a:srgbClr val="3B47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6568" y="1"/>
            <a:ext cx="12198568" cy="258791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6568" y="6573328"/>
            <a:ext cx="12198568" cy="284672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6"/>
          <p:cNvSpPr txBox="1"/>
          <p:nvPr/>
        </p:nvSpPr>
        <p:spPr>
          <a:xfrm>
            <a:off x="450753" y="663036"/>
            <a:ext cx="312257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spc="400" dirty="0">
                <a:solidFill>
                  <a:srgbClr val="3B476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系统功能</a:t>
            </a:r>
            <a:r>
              <a:rPr lang="zh-CN" altLang="en-US" sz="2400" spc="400" dirty="0">
                <a:solidFill>
                  <a:srgbClr val="3B476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介绍</a:t>
            </a:r>
            <a:endParaRPr lang="zh-CN" altLang="en-US" sz="2400" spc="400" dirty="0">
              <a:solidFill>
                <a:srgbClr val="3B476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-85193" y="683915"/>
            <a:ext cx="525979" cy="355592"/>
          </a:xfrm>
          <a:prstGeom prst="triangle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>
            <a:off x="1435850" y="6049066"/>
            <a:ext cx="4507992" cy="0"/>
          </a:xfrm>
          <a:prstGeom prst="line">
            <a:avLst/>
          </a:prstGeom>
          <a:ln w="12700">
            <a:solidFill>
              <a:srgbClr val="3B476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033520" y="1634490"/>
            <a:ext cx="4990465" cy="3345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本系统基于</a:t>
            </a:r>
            <a:r>
              <a:rPr lang="en-US" altLang="zh-CN" sz="2000"/>
              <a:t>STM32</a:t>
            </a:r>
            <a:r>
              <a:rPr lang="zh-CN" altLang="en-US" sz="2000"/>
              <a:t>主控平台，集成二维码识别、传感器检测与电机驱动机构，实现包裹信息自动采集、传输路径智能判定和精准分拣执行三大核心功能。系统通过</a:t>
            </a:r>
            <a:r>
              <a:rPr lang="en-US" altLang="zh-CN" sz="2000"/>
              <a:t>FreeRTOS</a:t>
            </a:r>
            <a:r>
              <a:rPr lang="zh-CN" altLang="en-US" sz="2000"/>
              <a:t>多任务调度确保实时响应，配合</a:t>
            </a:r>
            <a:r>
              <a:rPr lang="en-US" altLang="zh-CN" sz="2000"/>
              <a:t>OLED</a:t>
            </a:r>
            <a:r>
              <a:rPr lang="zh-CN" altLang="en-US" sz="2000"/>
              <a:t>显示模块实现运行状态监控，形成完整的</a:t>
            </a:r>
            <a:r>
              <a:rPr lang="en-US" altLang="zh-CN" sz="2000"/>
              <a:t>"</a:t>
            </a:r>
            <a:r>
              <a:rPr lang="zh-CN" altLang="en-US" sz="2000"/>
              <a:t>识别</a:t>
            </a:r>
            <a:r>
              <a:rPr lang="en-US" altLang="zh-CN" sz="2000"/>
              <a:t>-</a:t>
            </a:r>
            <a:r>
              <a:rPr lang="zh-CN" altLang="en-US" sz="2000"/>
              <a:t>控制</a:t>
            </a:r>
            <a:r>
              <a:rPr lang="en-US" altLang="zh-CN" sz="2000"/>
              <a:t>-</a:t>
            </a:r>
            <a:r>
              <a:rPr lang="zh-CN" altLang="en-US" sz="2000"/>
              <a:t>分拣</a:t>
            </a:r>
            <a:r>
              <a:rPr lang="en-US" altLang="zh-CN" sz="2000"/>
              <a:t>"</a:t>
            </a:r>
            <a:r>
              <a:rPr lang="zh-CN" altLang="en-US" sz="2000"/>
              <a:t>自动化闭环。旨在提升分拣效率与准确性，为中小型物流场景提供低成本、易部署的自动化解决方案。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435735" y="2632710"/>
            <a:ext cx="1986915" cy="1042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</a:rPr>
              <a:t>智能物流分拣控制系统设计</a:t>
            </a:r>
            <a:endParaRPr lang="zh-CN" altLang="en-US" sz="1600" b="1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33495" y="1520825"/>
            <a:ext cx="5270500" cy="3208020"/>
          </a:xfrm>
          <a:prstGeom prst="rect">
            <a:avLst/>
          </a:prstGeom>
          <a:noFill/>
          <a:ln w="19050">
            <a:solidFill>
              <a:srgbClr val="3B47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568" y="1"/>
            <a:ext cx="12198568" cy="258791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6568" y="6573328"/>
            <a:ext cx="12198568" cy="284672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6"/>
          <p:cNvSpPr txBox="1"/>
          <p:nvPr/>
        </p:nvSpPr>
        <p:spPr>
          <a:xfrm>
            <a:off x="1136650" y="2710815"/>
            <a:ext cx="2512695" cy="84709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3200" spc="400" dirty="0">
                <a:solidFill>
                  <a:srgbClr val="3B476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系统流程图</a:t>
            </a:r>
            <a:endParaRPr lang="zh-CN" altLang="en-US" sz="3200" spc="400" dirty="0">
              <a:solidFill>
                <a:srgbClr val="3B476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-85193" y="2795925"/>
            <a:ext cx="525979" cy="355592"/>
          </a:xfrm>
          <a:prstGeom prst="triangle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pic>
        <p:nvPicPr>
          <p:cNvPr id="142602467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3780" y="272415"/>
            <a:ext cx="2912745" cy="6313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568" y="1"/>
            <a:ext cx="12198568" cy="475454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6568" y="6181344"/>
            <a:ext cx="12198568" cy="676656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5" name="圆角矩形 7"/>
          <p:cNvSpPr/>
          <p:nvPr/>
        </p:nvSpPr>
        <p:spPr>
          <a:xfrm>
            <a:off x="3381556" y="302318"/>
            <a:ext cx="5080958" cy="48190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"/>
          <p:cNvSpPr/>
          <p:nvPr/>
        </p:nvSpPr>
        <p:spPr>
          <a:xfrm>
            <a:off x="3449432" y="2774004"/>
            <a:ext cx="930387" cy="930387"/>
          </a:xfrm>
          <a:prstGeom prst="round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503739" y="2732397"/>
            <a:ext cx="1147759" cy="849592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1"/>
                  <a:srcRect/>
                  <a:stretch>
                    <a:fillRect/>
                  </a:stretch>
                </a:blip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3600" dirty="0">
                <a:solidFill>
                  <a:schemeClr val="bg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04</a:t>
            </a:r>
            <a:endParaRPr lang="en-US" altLang="zh-CN" sz="3600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651498" y="2885254"/>
            <a:ext cx="4404430" cy="7067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40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  </a:t>
            </a:r>
            <a:r>
              <a:rPr lang="zh-CN" altLang="en-US" sz="40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研究方法</a:t>
            </a:r>
            <a:endParaRPr lang="zh-CN" altLang="en-US" sz="4000" spc="4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651498" y="3667815"/>
            <a:ext cx="5342894" cy="0"/>
          </a:xfrm>
          <a:prstGeom prst="line">
            <a:avLst/>
          </a:prstGeom>
          <a:ln>
            <a:solidFill>
              <a:srgbClr val="3B4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074035" y="1482090"/>
            <a:ext cx="6189345" cy="36620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-6568" y="1"/>
            <a:ext cx="12198568" cy="258791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-6568" y="6573328"/>
            <a:ext cx="12198568" cy="284672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6"/>
          <p:cNvSpPr txBox="1"/>
          <p:nvPr/>
        </p:nvSpPr>
        <p:spPr>
          <a:xfrm>
            <a:off x="513715" y="599440"/>
            <a:ext cx="2379980" cy="5219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spc="400" dirty="0">
                <a:solidFill>
                  <a:srgbClr val="3B476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研究方法</a:t>
            </a:r>
            <a:endParaRPr lang="zh-CN" altLang="en-US" sz="2800" spc="400" dirty="0">
              <a:solidFill>
                <a:srgbClr val="3B476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28" name="等腰三角形 27"/>
          <p:cNvSpPr/>
          <p:nvPr/>
        </p:nvSpPr>
        <p:spPr>
          <a:xfrm rot="5400000">
            <a:off x="-85193" y="683915"/>
            <a:ext cx="525979" cy="355592"/>
          </a:xfrm>
          <a:prstGeom prst="triangle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68675" y="1745615"/>
            <a:ext cx="5600065" cy="2596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       </a:t>
            </a:r>
            <a:r>
              <a:rPr lang="zh-CN" altLang="en-US">
                <a:solidFill>
                  <a:schemeClr val="bg1"/>
                </a:solidFill>
              </a:rPr>
              <a:t>本研究采用多方法融合的技术路线：首先通过文献研究法梳理智能分拣系统关键技术，明确设计方向；运用功能分析法解析现有系统不足，提出以</a:t>
            </a:r>
            <a:r>
              <a:rPr lang="en-US" altLang="zh-CN">
                <a:solidFill>
                  <a:schemeClr val="bg1"/>
                </a:solidFill>
              </a:rPr>
              <a:t>STM32</a:t>
            </a:r>
            <a:r>
              <a:rPr lang="zh-CN" altLang="en-US">
                <a:solidFill>
                  <a:schemeClr val="bg1"/>
                </a:solidFill>
              </a:rPr>
              <a:t>为核心的优化方案；结合比较研究法评估不同硬件方案的性价比，最终确定采用模块化设计；通过调查法收集实际需求，指导系统功能定义。具体实施依托软硬件协同开发：硬件层面设计</a:t>
            </a:r>
            <a:r>
              <a:rPr lang="en-US" altLang="zh-CN">
                <a:solidFill>
                  <a:schemeClr val="bg1"/>
                </a:solidFill>
              </a:rPr>
              <a:t>STM32</a:t>
            </a:r>
            <a:r>
              <a:rPr lang="zh-CN" altLang="en-US">
                <a:solidFill>
                  <a:schemeClr val="bg1"/>
                </a:solidFill>
              </a:rPr>
              <a:t>最小系统板与集成化</a:t>
            </a:r>
            <a:r>
              <a:rPr lang="en-US" altLang="zh-CN">
                <a:solidFill>
                  <a:schemeClr val="bg1"/>
                </a:solidFill>
              </a:rPr>
              <a:t>PCB</a:t>
            </a:r>
            <a:r>
              <a:rPr lang="zh-CN" altLang="en-US">
                <a:solidFill>
                  <a:schemeClr val="bg1"/>
                </a:solidFill>
              </a:rPr>
              <a:t>底板，机械结构通过</a:t>
            </a:r>
            <a:r>
              <a:rPr lang="en-US" altLang="zh-CN">
                <a:solidFill>
                  <a:schemeClr val="bg1"/>
                </a:solidFill>
              </a:rPr>
              <a:t>SolidWorks</a:t>
            </a:r>
            <a:r>
              <a:rPr lang="zh-CN" altLang="en-US">
                <a:solidFill>
                  <a:schemeClr val="bg1"/>
                </a:solidFill>
              </a:rPr>
              <a:t>建模并</a:t>
            </a:r>
            <a:r>
              <a:rPr lang="en-US" altLang="zh-CN">
                <a:solidFill>
                  <a:schemeClr val="bg1"/>
                </a:solidFill>
              </a:rPr>
              <a:t>3D</a:t>
            </a:r>
            <a:r>
              <a:rPr lang="zh-CN" altLang="en-US">
                <a:solidFill>
                  <a:schemeClr val="bg1"/>
                </a:solidFill>
              </a:rPr>
              <a:t>打印成型；软件层面基于</a:t>
            </a:r>
            <a:r>
              <a:rPr lang="en-US" altLang="zh-CN">
                <a:solidFill>
                  <a:schemeClr val="bg1"/>
                </a:solidFill>
              </a:rPr>
              <a:t>FreeRTOS</a:t>
            </a:r>
            <a:r>
              <a:rPr lang="zh-CN" altLang="en-US">
                <a:solidFill>
                  <a:schemeClr val="bg1"/>
                </a:solidFill>
              </a:rPr>
              <a:t>开发多任务系统，实现从二维码识别到分拣执行的闭环控制，最终通过样机测试验证系统可靠性。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-6568" y="1"/>
            <a:ext cx="12198568" cy="258791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-6568" y="6573328"/>
            <a:ext cx="12198568" cy="284672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等腰三角形 27"/>
          <p:cNvSpPr/>
          <p:nvPr/>
        </p:nvSpPr>
        <p:spPr>
          <a:xfrm rot="5400000">
            <a:off x="-85193" y="433725"/>
            <a:ext cx="525979" cy="355592"/>
          </a:xfrm>
          <a:prstGeom prst="triangle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0050" y="348615"/>
            <a:ext cx="3219450" cy="566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 spc="400" dirty="0">
                <a:solidFill>
                  <a:srgbClr val="3B476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ea"/>
              </a:rPr>
              <a:t>拟采用技术方案</a:t>
            </a:r>
            <a:endParaRPr lang="zh-CN" altLang="en-US" sz="2800" spc="400" dirty="0">
              <a:solidFill>
                <a:srgbClr val="3B476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+mn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400050" y="1231265"/>
            <a:ext cx="4385310" cy="4140835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2"/>
          <a:srcRect l="83899" t="31660"/>
          <a:stretch>
            <a:fillRect/>
          </a:stretch>
        </p:blipFill>
        <p:spPr>
          <a:xfrm>
            <a:off x="4892040" y="1821815"/>
            <a:ext cx="1449070" cy="24847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16700" y="1231265"/>
            <a:ext cx="4158615" cy="3759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0070C0"/>
                </a:solidFill>
                <a:sym typeface="+mn-ea"/>
              </a:rPr>
              <a:t>本系统采用</a:t>
            </a:r>
            <a:r>
              <a:rPr lang="en-US" altLang="zh-CN" sz="2000" b="1">
                <a:solidFill>
                  <a:srgbClr val="0070C0"/>
                </a:solidFill>
                <a:sym typeface="+mn-ea"/>
              </a:rPr>
              <a:t>STM32F103</a:t>
            </a:r>
            <a:r>
              <a:rPr lang="zh-CN" altLang="en-US" sz="2000" b="1">
                <a:solidFill>
                  <a:srgbClr val="0070C0"/>
                </a:solidFill>
                <a:sym typeface="+mn-ea"/>
              </a:rPr>
              <a:t>系列单片机作为主控核心，通过最小系统板集成电机驱动、电源管理等模块。系统通过</a:t>
            </a:r>
            <a:r>
              <a:rPr lang="en-US" altLang="zh-CN" sz="2000" b="1">
                <a:solidFill>
                  <a:srgbClr val="0070C0"/>
                </a:solidFill>
                <a:sym typeface="+mn-ea"/>
              </a:rPr>
              <a:t>QX1150</a:t>
            </a:r>
            <a:r>
              <a:rPr lang="zh-CN" altLang="en-US" sz="2000" b="1">
                <a:solidFill>
                  <a:srgbClr val="0070C0"/>
                </a:solidFill>
                <a:sym typeface="+mn-ea"/>
              </a:rPr>
              <a:t>二维码扫描器获取包裹信息，结合红外传感器实时检测包裹位置。控制程序基于</a:t>
            </a:r>
            <a:r>
              <a:rPr lang="en-US" altLang="zh-CN" sz="2000" b="1">
                <a:solidFill>
                  <a:srgbClr val="0070C0"/>
                </a:solidFill>
                <a:sym typeface="+mn-ea"/>
              </a:rPr>
              <a:t>FreeRTOS</a:t>
            </a:r>
            <a:r>
              <a:rPr lang="zh-CN" altLang="en-US" sz="2000" b="1">
                <a:solidFill>
                  <a:srgbClr val="0070C0"/>
                </a:solidFill>
                <a:sym typeface="+mn-ea"/>
              </a:rPr>
              <a:t>实时操作系统开发，采用多任务调度架构实现精准时序控制。机械执行部分采用舵机控制挡板结构，通过</a:t>
            </a:r>
            <a:r>
              <a:rPr lang="en-US" altLang="zh-CN" sz="2000" b="1">
                <a:solidFill>
                  <a:srgbClr val="0070C0"/>
                </a:solidFill>
                <a:sym typeface="+mn-ea"/>
              </a:rPr>
              <a:t>3D</a:t>
            </a:r>
            <a:r>
              <a:rPr lang="zh-CN" altLang="en-US" sz="2000" b="1">
                <a:solidFill>
                  <a:srgbClr val="0070C0"/>
                </a:solidFill>
                <a:sym typeface="+mn-ea"/>
              </a:rPr>
              <a:t>打印制作关键零部件，实现低成本、高可靠性的自动化分拣功能。</a:t>
            </a:r>
            <a:endParaRPr lang="zh-CN" altLang="en-US" sz="2000" b="1">
              <a:solidFill>
                <a:srgbClr val="0070C0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525" y="5317861"/>
            <a:ext cx="12182475" cy="132524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568" y="1"/>
            <a:ext cx="12198568" cy="475454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-6568" y="5857335"/>
            <a:ext cx="12198568" cy="1000665"/>
          </a:xfrm>
          <a:prstGeom prst="rect">
            <a:avLst/>
          </a:pr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7"/>
          <p:cNvSpPr/>
          <p:nvPr/>
        </p:nvSpPr>
        <p:spPr>
          <a:xfrm>
            <a:off x="3680604" y="5662298"/>
            <a:ext cx="4830793" cy="38476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5" name="梯形 4"/>
          <p:cNvSpPr/>
          <p:nvPr/>
        </p:nvSpPr>
        <p:spPr>
          <a:xfrm flipV="1">
            <a:off x="1442049" y="345384"/>
            <a:ext cx="9307902" cy="273890"/>
          </a:xfrm>
          <a:prstGeom prst="trapezoid">
            <a:avLst>
              <a:gd name="adj" fmla="val 4429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21"/>
          <p:cNvSpPr txBox="1"/>
          <p:nvPr/>
        </p:nvSpPr>
        <p:spPr>
          <a:xfrm>
            <a:off x="1166189" y="3115219"/>
            <a:ext cx="985305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感谢各位老师批评指正</a:t>
            </a:r>
            <a:endParaRPr lang="zh-CN" altLang="en-US" sz="48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21"/>
          <p:cNvSpPr txBox="1"/>
          <p:nvPr/>
        </p:nvSpPr>
        <p:spPr>
          <a:xfrm>
            <a:off x="4124367" y="5702657"/>
            <a:ext cx="4081282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汇报人：</a:t>
            </a:r>
            <a:r>
              <a:rPr lang="zh-CN" altLang="en-US" sz="15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张琳  日期：</a:t>
            </a:r>
            <a:r>
              <a:rPr lang="en-US" altLang="zh-CN" sz="15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2025.12.26</a:t>
            </a:r>
            <a:endParaRPr lang="en-US" altLang="zh-CN" sz="1500" spc="3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8" name="文本框 21"/>
          <p:cNvSpPr txBox="1"/>
          <p:nvPr/>
        </p:nvSpPr>
        <p:spPr>
          <a:xfrm>
            <a:off x="3424128" y="2614736"/>
            <a:ext cx="533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GRADUATION THESIS DEFENSE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756780" y="4368181"/>
            <a:ext cx="8671871" cy="0"/>
          </a:xfrm>
          <a:prstGeom prst="line">
            <a:avLst/>
          </a:prstGeom>
          <a:ln w="12700">
            <a:solidFill>
              <a:srgbClr val="3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KSO_Shape"/>
          <p:cNvSpPr>
            <a:spLocks noChangeArrowheads="1"/>
          </p:cNvSpPr>
          <p:nvPr/>
        </p:nvSpPr>
        <p:spPr bwMode="auto">
          <a:xfrm>
            <a:off x="5346612" y="1356308"/>
            <a:ext cx="1492206" cy="942900"/>
          </a:xfrm>
          <a:custGeom>
            <a:avLst/>
            <a:gdLst>
              <a:gd name="connsiteX0" fmla="*/ 104550 w 604718"/>
              <a:gd name="connsiteY0" fmla="*/ 208330 h 382112"/>
              <a:gd name="connsiteX1" fmla="*/ 156180 w 604718"/>
              <a:gd name="connsiteY1" fmla="*/ 208330 h 382112"/>
              <a:gd name="connsiteX2" fmla="*/ 261642 w 604718"/>
              <a:gd name="connsiteY2" fmla="*/ 248878 h 382112"/>
              <a:gd name="connsiteX3" fmla="*/ 298947 w 604718"/>
              <a:gd name="connsiteY3" fmla="*/ 255007 h 382112"/>
              <a:gd name="connsiteX4" fmla="*/ 340187 w 604718"/>
              <a:gd name="connsiteY4" fmla="*/ 247621 h 382112"/>
              <a:gd name="connsiteX5" fmla="*/ 433687 w 604718"/>
              <a:gd name="connsiteY5" fmla="*/ 208330 h 382112"/>
              <a:gd name="connsiteX6" fmla="*/ 490825 w 604718"/>
              <a:gd name="connsiteY6" fmla="*/ 208330 h 382112"/>
              <a:gd name="connsiteX7" fmla="*/ 490825 w 604718"/>
              <a:gd name="connsiteY7" fmla="*/ 271509 h 382112"/>
              <a:gd name="connsiteX8" fmla="*/ 458400 w 604718"/>
              <a:gd name="connsiteY8" fmla="*/ 320701 h 382112"/>
              <a:gd name="connsiteX9" fmla="*/ 329326 w 604718"/>
              <a:gd name="connsiteY9" fmla="*/ 376337 h 382112"/>
              <a:gd name="connsiteX10" fmla="*/ 264632 w 604718"/>
              <a:gd name="connsiteY10" fmla="*/ 376337 h 382112"/>
              <a:gd name="connsiteX11" fmla="*/ 136819 w 604718"/>
              <a:gd name="connsiteY11" fmla="*/ 320701 h 382112"/>
              <a:gd name="connsiteX12" fmla="*/ 104550 w 604718"/>
              <a:gd name="connsiteY12" fmla="*/ 271509 h 382112"/>
              <a:gd name="connsiteX13" fmla="*/ 300973 w 604718"/>
              <a:gd name="connsiteY13" fmla="*/ 5 h 382112"/>
              <a:gd name="connsiteX14" fmla="*/ 334162 w 604718"/>
              <a:gd name="connsiteY14" fmla="*/ 4701 h 382112"/>
              <a:gd name="connsiteX15" fmla="*/ 581267 w 604718"/>
              <a:gd name="connsiteY15" fmla="*/ 92552 h 382112"/>
              <a:gd name="connsiteX16" fmla="*/ 588822 w 604718"/>
              <a:gd name="connsiteY16" fmla="*/ 114398 h 382112"/>
              <a:gd name="connsiteX17" fmla="*/ 589136 w 604718"/>
              <a:gd name="connsiteY17" fmla="*/ 114398 h 382112"/>
              <a:gd name="connsiteX18" fmla="*/ 589136 w 604718"/>
              <a:gd name="connsiteY18" fmla="*/ 270771 h 382112"/>
              <a:gd name="connsiteX19" fmla="*/ 604718 w 604718"/>
              <a:gd name="connsiteY19" fmla="*/ 321376 h 382112"/>
              <a:gd name="connsiteX20" fmla="*/ 561278 w 604718"/>
              <a:gd name="connsiteY20" fmla="*/ 321376 h 382112"/>
              <a:gd name="connsiteX21" fmla="*/ 576388 w 604718"/>
              <a:gd name="connsiteY21" fmla="*/ 271242 h 382112"/>
              <a:gd name="connsiteX22" fmla="*/ 576388 w 604718"/>
              <a:gd name="connsiteY22" fmla="*/ 120370 h 382112"/>
              <a:gd name="connsiteX23" fmla="*/ 333376 w 604718"/>
              <a:gd name="connsiteY23" fmla="*/ 222680 h 382112"/>
              <a:gd name="connsiteX24" fmla="*/ 268058 w 604718"/>
              <a:gd name="connsiteY24" fmla="*/ 223780 h 382112"/>
              <a:gd name="connsiteX25" fmla="*/ 13556 w 604718"/>
              <a:gd name="connsiteY25" fmla="*/ 125870 h 382112"/>
              <a:gd name="connsiteX26" fmla="*/ 13714 w 604718"/>
              <a:gd name="connsiteY26" fmla="*/ 100882 h 382112"/>
              <a:gd name="connsiteX27" fmla="*/ 267901 w 604718"/>
              <a:gd name="connsiteY27" fmla="*/ 5329 h 382112"/>
              <a:gd name="connsiteX28" fmla="*/ 300973 w 604718"/>
              <a:gd name="connsiteY28" fmla="*/ 5 h 3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4718" h="382112">
                <a:moveTo>
                  <a:pt x="104550" y="208330"/>
                </a:moveTo>
                <a:lnTo>
                  <a:pt x="156180" y="208330"/>
                </a:lnTo>
                <a:lnTo>
                  <a:pt x="261642" y="248878"/>
                </a:lnTo>
                <a:cubicBezTo>
                  <a:pt x="274864" y="253907"/>
                  <a:pt x="289188" y="255007"/>
                  <a:pt x="298947" y="255007"/>
                </a:cubicBezTo>
                <a:cubicBezTo>
                  <a:pt x="314373" y="255007"/>
                  <a:pt x="329012" y="252493"/>
                  <a:pt x="340187" y="247621"/>
                </a:cubicBezTo>
                <a:lnTo>
                  <a:pt x="433687" y="208330"/>
                </a:lnTo>
                <a:lnTo>
                  <a:pt x="490825" y="208330"/>
                </a:lnTo>
                <a:lnTo>
                  <a:pt x="490825" y="271509"/>
                </a:lnTo>
                <a:cubicBezTo>
                  <a:pt x="490825" y="290998"/>
                  <a:pt x="476344" y="313000"/>
                  <a:pt x="458400" y="320701"/>
                </a:cubicBezTo>
                <a:lnTo>
                  <a:pt x="329326" y="376337"/>
                </a:lnTo>
                <a:cubicBezTo>
                  <a:pt x="311382" y="384038"/>
                  <a:pt x="282419" y="384038"/>
                  <a:pt x="264632" y="376337"/>
                </a:cubicBezTo>
                <a:lnTo>
                  <a:pt x="136819" y="320701"/>
                </a:lnTo>
                <a:cubicBezTo>
                  <a:pt x="119032" y="313000"/>
                  <a:pt x="104550" y="290998"/>
                  <a:pt x="104550" y="271509"/>
                </a:cubicBezTo>
                <a:close/>
                <a:moveTo>
                  <a:pt x="300973" y="5"/>
                </a:moveTo>
                <a:cubicBezTo>
                  <a:pt x="312954" y="-93"/>
                  <a:pt x="324955" y="1479"/>
                  <a:pt x="334162" y="4701"/>
                </a:cubicBezTo>
                <a:lnTo>
                  <a:pt x="581267" y="92552"/>
                </a:lnTo>
                <a:cubicBezTo>
                  <a:pt x="596849" y="98053"/>
                  <a:pt x="599210" y="107168"/>
                  <a:pt x="588822" y="114398"/>
                </a:cubicBezTo>
                <a:lnTo>
                  <a:pt x="589136" y="114398"/>
                </a:lnTo>
                <a:lnTo>
                  <a:pt x="589136" y="270771"/>
                </a:lnTo>
                <a:lnTo>
                  <a:pt x="604718" y="321376"/>
                </a:lnTo>
                <a:lnTo>
                  <a:pt x="561278" y="321376"/>
                </a:lnTo>
                <a:lnTo>
                  <a:pt x="576388" y="271242"/>
                </a:lnTo>
                <a:lnTo>
                  <a:pt x="576388" y="120370"/>
                </a:lnTo>
                <a:lnTo>
                  <a:pt x="333376" y="222680"/>
                </a:lnTo>
                <a:cubicBezTo>
                  <a:pt x="315433" y="230224"/>
                  <a:pt x="286158" y="230695"/>
                  <a:pt x="268058" y="223780"/>
                </a:cubicBezTo>
                <a:lnTo>
                  <a:pt x="13556" y="125870"/>
                </a:lnTo>
                <a:cubicBezTo>
                  <a:pt x="-4544" y="118798"/>
                  <a:pt x="-4544" y="107640"/>
                  <a:pt x="13714" y="100882"/>
                </a:cubicBezTo>
                <a:lnTo>
                  <a:pt x="267901" y="5329"/>
                </a:lnTo>
                <a:cubicBezTo>
                  <a:pt x="277030" y="1872"/>
                  <a:pt x="288991" y="104"/>
                  <a:pt x="300973" y="5"/>
                </a:cubicBezTo>
                <a:close/>
              </a:path>
            </a:pathLst>
          </a:custGeom>
          <a:solidFill>
            <a:srgbClr val="3B4761"/>
          </a:solidFill>
          <a:ln>
            <a:noFill/>
          </a:ln>
        </p:spPr>
        <p:txBody>
          <a:bodyPr lIns="121917" tIns="60958" rIns="121917" bIns="60958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1" name="文本框 21"/>
          <p:cNvSpPr txBox="1"/>
          <p:nvPr/>
        </p:nvSpPr>
        <p:spPr>
          <a:xfrm>
            <a:off x="4076219" y="4547074"/>
            <a:ext cx="403299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智能物流分拣控制系统设计</a:t>
            </a:r>
            <a:endParaRPr lang="zh-CN" altLang="en-US" sz="2000" b="1" spc="300" dirty="0">
              <a:solidFill>
                <a:schemeClr val="tx1">
                  <a:lumMod val="85000"/>
                  <a:lumOff val="1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ISLIDE.ICON" val="#36414;#36099;#36637;"/>
</p:tagLst>
</file>

<file path=ppt/tags/tag2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3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4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5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6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7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8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9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10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11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12.xml><?xml version="1.0" encoding="utf-8"?>
<p:tagLst xmlns:p="http://schemas.openxmlformats.org/presentationml/2006/main">
  <p:tag name="KSO_WM_DIAGRAM_VIRTUALLY_FRAME" val="{&quot;height&quot;:323.4395275590551,&quot;left&quot;:492.51637795275593,&quot;top&quot;:156.776062992126,&quot;width&quot;:349.3836220472441}"/>
</p:tagLst>
</file>

<file path=ppt/tags/tag13.xml><?xml version="1.0" encoding="utf-8"?>
<p:tagLst xmlns:p="http://schemas.openxmlformats.org/presentationml/2006/main">
  <p:tag name="KSO_WM_DIAGRAM_VIRTUALLY_FRAME" val="{&quot;height&quot;:380.75,&quot;left&quot;:88.3118897637795,&quot;top&quot;:120.25,&quot;width&quot;:686.0881102362205}"/>
</p:tagLst>
</file>

<file path=ppt/tags/tag14.xml><?xml version="1.0" encoding="utf-8"?>
<p:tagLst xmlns:p="http://schemas.openxmlformats.org/presentationml/2006/main">
  <p:tag name="KSO_WM_DIAGRAM_VIRTUALLY_FRAME" val="{&quot;height&quot;:380.75,&quot;left&quot;:88.3118897637795,&quot;top&quot;:120.25,&quot;width&quot;:686.0881102362205}"/>
</p:tagLst>
</file>

<file path=ppt/tags/tag15.xml><?xml version="1.0" encoding="utf-8"?>
<p:tagLst xmlns:p="http://schemas.openxmlformats.org/presentationml/2006/main">
  <p:tag name="KSO_WM_DIAGRAM_VIRTUALLY_FRAME" val="{&quot;height&quot;:457.8589763779527,&quot;left&quot;:66.67771653543305,&quot;top&quot;:102.35,&quot;width&quot;:753.1713385826771}"/>
</p:tagLst>
</file>

<file path=ppt/tags/tag16.xml><?xml version="1.0" encoding="utf-8"?>
<p:tagLst xmlns:p="http://schemas.openxmlformats.org/presentationml/2006/main">
  <p:tag name="KSO_WM_DIAGRAM_VIRTUALLY_FRAME" val="{&quot;height&quot;:457.8589763779527,&quot;left&quot;:66.67771653543305,&quot;top&quot;:102.35,&quot;width&quot;:753.1713385826771}"/>
</p:tagLst>
</file>

<file path=ppt/tags/tag17.xml><?xml version="1.0" encoding="utf-8"?>
<p:tagLst xmlns:p="http://schemas.openxmlformats.org/presentationml/2006/main">
  <p:tag name="KSO_WM_DIAGRAM_VIRTUALLY_FRAME" val="{&quot;height&quot;:457.8589763779527,&quot;left&quot;:66.67771653543305,&quot;top&quot;:102.35,&quot;width&quot;:753.1713385826771}"/>
</p:tagLst>
</file>

<file path=ppt/tags/tag18.xml><?xml version="1.0" encoding="utf-8"?>
<p:tagLst xmlns:p="http://schemas.openxmlformats.org/presentationml/2006/main">
  <p:tag name="KSO_WM_DIAGRAM_VIRTUALLY_FRAME" val="{&quot;height&quot;:457.8589763779527,&quot;left&quot;:66.67771653543305,&quot;top&quot;:102.35,&quot;width&quot;:753.1713385826771}"/>
</p:tagLst>
</file>

<file path=ppt/tags/tag19.xml><?xml version="1.0" encoding="utf-8"?>
<p:tagLst xmlns:p="http://schemas.openxmlformats.org/presentationml/2006/main">
  <p:tag name="KSO_WM_DIAGRAM_VIRTUALLY_FRAME" val="{&quot;height&quot;:457.8589763779527,&quot;left&quot;:66.67771653543305,&quot;top&quot;:102.35,&quot;width&quot;:753.1713385826771}"/>
</p:tagLst>
</file>

<file path=ppt/tags/tag20.xml><?xml version="1.0" encoding="utf-8"?>
<p:tagLst xmlns:p="http://schemas.openxmlformats.org/presentationml/2006/main">
  <p:tag name="KSO_WM_DIAGRAM_VIRTUALLY_FRAME" val="{&quot;height&quot;:457.8589763779527,&quot;left&quot;:66.67771653543305,&quot;top&quot;:102.35,&quot;width&quot;:753.1713385826771}"/>
</p:tagLst>
</file>

<file path=ppt/tags/tag21.xml><?xml version="1.0" encoding="utf-8"?>
<p:tagLst xmlns:p="http://schemas.openxmlformats.org/presentationml/2006/main">
  <p:tag name="KSO_WM_DIAGRAM_VIRTUALLY_FRAME" val="{&quot;height&quot;:457.8589763779527,&quot;left&quot;:66.67771653543305,&quot;top&quot;:102.35,&quot;width&quot;:753.1713385826771}"/>
</p:tagLst>
</file>

<file path=ppt/tags/tag22.xml><?xml version="1.0" encoding="utf-8"?>
<p:tagLst xmlns:p="http://schemas.openxmlformats.org/presentationml/2006/main">
  <p:tag name="KSO_WM_DIAGRAM_VIRTUALLY_FRAME" val="{&quot;height&quot;:457.8589763779527,&quot;left&quot;:66.67771653543305,&quot;top&quot;:102.35,&quot;width&quot;:753.1713385826771}"/>
</p:tagLst>
</file>

<file path=ppt/tags/tag23.xml><?xml version="1.0" encoding="utf-8"?>
<p:tagLst xmlns:p="http://schemas.openxmlformats.org/presentationml/2006/main">
  <p:tag name="ISLIDE.ICON" val="#407148;#177318;#405366;#407207;"/>
</p:tagLst>
</file>

<file path=ppt/tags/tag24.xml><?xml version="1.0" encoding="utf-8"?>
<p:tagLst xmlns:p="http://schemas.openxmlformats.org/presentationml/2006/main">
  <p:tag name="KSO_WM_DIAGRAM_VIRTUALLY_FRAME" val="{&quot;height&quot;:338.31700787401576,&quot;left&quot;:102.86511811023622,&quot;top&quot;:137.98740157480316,&quot;width&quot;:365.153937007874}"/>
</p:tagLst>
</file>

<file path=ppt/tags/tag25.xml><?xml version="1.0" encoding="utf-8"?>
<p:tagLst xmlns:p="http://schemas.openxmlformats.org/presentationml/2006/main">
  <p:tag name="KSO_WM_DIAGRAM_VIRTUALLY_FRAME" val="{&quot;height&quot;:348.31039370078736,&quot;left&quot;:0,&quot;top&quot;:131.17921259842518,&quot;width&quot;:959.25}"/>
</p:tagLst>
</file>

<file path=ppt/tags/tag26.xml><?xml version="1.0" encoding="utf-8"?>
<p:tagLst xmlns:p="http://schemas.openxmlformats.org/presentationml/2006/main">
  <p:tag name="ISLIDE.ICON" val="#36414;#36099;#36637;"/>
</p:tagLst>
</file>

<file path=ppt/tags/tag27.xml><?xml version="1.0" encoding="utf-8"?>
<p:tagLst xmlns:p="http://schemas.openxmlformats.org/presentationml/2006/main">
  <p:tag name="KSO_WPP_MARK_KEY" val="4087043a-f878-4757-9659-4789fd72957e"/>
  <p:tag name="COMMONDATA" val="eyJoZGlkIjoiZjAxMTJhOTdhYmExNjczZmFmMDgzNzk2N2NkOGE2YTMifQ=="/>
</p:tagLst>
</file>

<file path=ppt/theme/theme1.xml><?xml version="1.0" encoding="utf-8"?>
<a:theme xmlns:a="http://schemas.openxmlformats.org/drawingml/2006/main" name="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B4761"/>
      </a:accent1>
      <a:accent2>
        <a:srgbClr val="FFC000"/>
      </a:accent2>
      <a:accent3>
        <a:srgbClr val="3B4761"/>
      </a:accent3>
      <a:accent4>
        <a:srgbClr val="FFC000"/>
      </a:accent4>
      <a:accent5>
        <a:srgbClr val="3B4761"/>
      </a:accent5>
      <a:accent6>
        <a:srgbClr val="FFC000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1495</Words>
  <Application>WPS 演示</Application>
  <PresentationFormat>宽屏</PresentationFormat>
  <Paragraphs>90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OPPOSans B</vt:lpstr>
      <vt:lpstr>微软雅黑</vt:lpstr>
      <vt:lpstr>OPPOSans R</vt:lpstr>
      <vt:lpstr>Noto Sans S Chinese</vt:lpstr>
      <vt:lpstr>Calibri</vt:lpstr>
      <vt:lpstr>等线</vt:lpstr>
      <vt:lpstr>Arial Unicode MS</vt:lpstr>
      <vt:lpstr>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素材来源网站当图网-www.99ppt.com</dc:title>
  <dc:creator>素材来源网站当图网-www.99ppt.com</dc:creator>
  <dc:description>素材来源网站当图网-www.99ppt.com</dc:description>
  <dc:subject>素材来源网站当图网-www.99ppt.com</dc:subject>
  <cp:lastModifiedBy>WPS_1649382506</cp:lastModifiedBy>
  <cp:revision>36</cp:revision>
  <dcterms:created xsi:type="dcterms:W3CDTF">2021-11-02T01:45:00Z</dcterms:created>
  <dcterms:modified xsi:type="dcterms:W3CDTF">2025-12-22T08:43:25Z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EC38C8E85C61496FB4DB494DCD213580_13</vt:lpwstr>
  </property>
  <property fmtid="{D5CDD505-2E9C-101B-9397-08002B2CF9AE}" pid="3" name="KSOProductBuildVer">
    <vt:lpwstr>2052-12.1.0.24034</vt:lpwstr>
  </property>
</Properties>
</file>